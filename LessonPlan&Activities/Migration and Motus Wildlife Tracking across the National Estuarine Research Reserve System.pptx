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Comic Sans" charset="1" panose="03000702030302020204"/>
      <p:regular r:id="rId24"/>
    </p:embeddedFont>
    <p:embeddedFont>
      <p:font typeface="Gagalin" charset="1" panose="00000500000000000000"/>
      <p:regular r:id="rId25"/>
    </p:embeddedFont>
    <p:embeddedFont>
      <p:font typeface="Comic Sans Bold" charset="1" panose="0300090203030202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jpeg" Type="http://schemas.openxmlformats.org/officeDocument/2006/relationships/image"/><Relationship Id="rId7"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6.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9.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7.jpeg" Type="http://schemas.openxmlformats.org/officeDocument/2006/relationships/image"/><Relationship Id="rId6" Target="../media/image2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5.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6.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7.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8.jpe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2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30.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A3E36"/>
        </a:solidFill>
      </p:bgPr>
    </p:bg>
    <p:spTree>
      <p:nvGrpSpPr>
        <p:cNvPr id="1" name=""/>
        <p:cNvGrpSpPr/>
        <p:nvPr/>
      </p:nvGrpSpPr>
      <p:grpSpPr>
        <a:xfrm>
          <a:off x="0" y="0"/>
          <a:ext cx="0" cy="0"/>
          <a:chOff x="0" y="0"/>
          <a:chExt cx="0" cy="0"/>
        </a:xfrm>
      </p:grpSpPr>
      <p:grpSp>
        <p:nvGrpSpPr>
          <p:cNvPr name="Group 2" id="2"/>
          <p:cNvGrpSpPr/>
          <p:nvPr/>
        </p:nvGrpSpPr>
        <p:grpSpPr>
          <a:xfrm rot="0">
            <a:off x="-1999442" y="1327954"/>
            <a:ext cx="14984582" cy="5460839"/>
            <a:chOff x="0" y="0"/>
            <a:chExt cx="3946556" cy="1438246"/>
          </a:xfrm>
        </p:grpSpPr>
        <p:sp>
          <p:nvSpPr>
            <p:cNvPr name="Freeform 3" id="3"/>
            <p:cNvSpPr/>
            <p:nvPr/>
          </p:nvSpPr>
          <p:spPr>
            <a:xfrm flipH="false" flipV="false" rot="0">
              <a:off x="0" y="0"/>
              <a:ext cx="3946556" cy="1438246"/>
            </a:xfrm>
            <a:custGeom>
              <a:avLst/>
              <a:gdLst/>
              <a:ahLst/>
              <a:cxnLst/>
              <a:rect r="r" b="b" t="t" l="l"/>
              <a:pathLst>
                <a:path h="1438246" w="3946556">
                  <a:moveTo>
                    <a:pt x="26350" y="0"/>
                  </a:moveTo>
                  <a:lnTo>
                    <a:pt x="3920207" y="0"/>
                  </a:lnTo>
                  <a:cubicBezTo>
                    <a:pt x="3934759" y="0"/>
                    <a:pt x="3946556" y="11797"/>
                    <a:pt x="3946556" y="26350"/>
                  </a:cubicBezTo>
                  <a:lnTo>
                    <a:pt x="3946556" y="1411896"/>
                  </a:lnTo>
                  <a:cubicBezTo>
                    <a:pt x="3946556" y="1426448"/>
                    <a:pt x="3934759" y="1438246"/>
                    <a:pt x="3920207" y="1438246"/>
                  </a:cubicBezTo>
                  <a:lnTo>
                    <a:pt x="26350" y="1438246"/>
                  </a:lnTo>
                  <a:cubicBezTo>
                    <a:pt x="11797" y="1438246"/>
                    <a:pt x="0" y="1426448"/>
                    <a:pt x="0" y="1411896"/>
                  </a:cubicBezTo>
                  <a:lnTo>
                    <a:pt x="0" y="26350"/>
                  </a:lnTo>
                  <a:cubicBezTo>
                    <a:pt x="0" y="11797"/>
                    <a:pt x="11797" y="0"/>
                    <a:pt x="26350" y="0"/>
                  </a:cubicBezTo>
                  <a:close/>
                </a:path>
              </a:pathLst>
            </a:custGeom>
            <a:solidFill>
              <a:srgbClr val="7B5A33"/>
            </a:solidFill>
          </p:spPr>
        </p:sp>
        <p:sp>
          <p:nvSpPr>
            <p:cNvPr name="TextBox 4" id="4"/>
            <p:cNvSpPr txBox="true"/>
            <p:nvPr/>
          </p:nvSpPr>
          <p:spPr>
            <a:xfrm>
              <a:off x="0" y="-57150"/>
              <a:ext cx="3946556" cy="1495396"/>
            </a:xfrm>
            <a:prstGeom prst="rect">
              <a:avLst/>
            </a:prstGeom>
          </p:spPr>
          <p:txBody>
            <a:bodyPr anchor="ctr" rtlCol="false" tIns="50800" lIns="50800" bIns="50800" rIns="50800"/>
            <a:lstStyle/>
            <a:p>
              <a:pPr algn="ctr">
                <a:lnSpc>
                  <a:spcPts val="3150"/>
                </a:lnSpc>
              </a:pPr>
            </a:p>
          </p:txBody>
        </p:sp>
      </p:grpSp>
      <p:sp>
        <p:nvSpPr>
          <p:cNvPr name="Freeform 5" id="5"/>
          <p:cNvSpPr/>
          <p:nvPr/>
        </p:nvSpPr>
        <p:spPr>
          <a:xfrm flipH="false" flipV="false" rot="-3842217">
            <a:off x="2519693" y="4976963"/>
            <a:ext cx="4787955" cy="7078966"/>
          </a:xfrm>
          <a:custGeom>
            <a:avLst/>
            <a:gdLst/>
            <a:ahLst/>
            <a:cxnLst/>
            <a:rect r="r" b="b" t="t" l="l"/>
            <a:pathLst>
              <a:path h="7078966" w="4787955">
                <a:moveTo>
                  <a:pt x="0" y="0"/>
                </a:moveTo>
                <a:lnTo>
                  <a:pt x="4787955" y="0"/>
                </a:lnTo>
                <a:lnTo>
                  <a:pt x="4787955" y="7078966"/>
                </a:lnTo>
                <a:lnTo>
                  <a:pt x="0" y="7078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718038" y="7330748"/>
            <a:ext cx="507781" cy="725401"/>
          </a:xfrm>
          <a:custGeom>
            <a:avLst/>
            <a:gdLst/>
            <a:ahLst/>
            <a:cxnLst/>
            <a:rect r="r" b="b" t="t" l="l"/>
            <a:pathLst>
              <a:path h="725401" w="507781">
                <a:moveTo>
                  <a:pt x="0" y="0"/>
                </a:moveTo>
                <a:lnTo>
                  <a:pt x="507781" y="0"/>
                </a:lnTo>
                <a:lnTo>
                  <a:pt x="507781" y="725402"/>
                </a:lnTo>
                <a:lnTo>
                  <a:pt x="0" y="7254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9850559">
            <a:off x="486719" y="8969769"/>
            <a:ext cx="507781" cy="725401"/>
          </a:xfrm>
          <a:custGeom>
            <a:avLst/>
            <a:gdLst/>
            <a:ahLst/>
            <a:cxnLst/>
            <a:rect r="r" b="b" t="t" l="l"/>
            <a:pathLst>
              <a:path h="725401" w="507781">
                <a:moveTo>
                  <a:pt x="0" y="0"/>
                </a:moveTo>
                <a:lnTo>
                  <a:pt x="507781" y="0"/>
                </a:lnTo>
                <a:lnTo>
                  <a:pt x="507781" y="725401"/>
                </a:lnTo>
                <a:lnTo>
                  <a:pt x="0" y="7254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a:grpSpLocks noChangeAspect="true"/>
          </p:cNvGrpSpPr>
          <p:nvPr/>
        </p:nvGrpSpPr>
        <p:grpSpPr>
          <a:xfrm rot="0">
            <a:off x="9006588" y="404093"/>
            <a:ext cx="9281412" cy="9245156"/>
            <a:chOff x="0" y="0"/>
            <a:chExt cx="6502400" cy="6477000"/>
          </a:xfrm>
        </p:grpSpPr>
        <p:sp>
          <p:nvSpPr>
            <p:cNvPr name="Freeform 9" id="9"/>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6"/>
              <a:stretch>
                <a:fillRect l="223" t="-16746" r="223" b="-16746"/>
              </a:stretch>
            </a:blipFill>
          </p:spPr>
        </p:sp>
        <p:sp>
          <p:nvSpPr>
            <p:cNvPr name="Freeform 10" id="10"/>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7B5A33"/>
            </a:solidFill>
          </p:spPr>
        </p:sp>
      </p:grpSp>
      <p:sp>
        <p:nvSpPr>
          <p:cNvPr name="TextBox 11" id="11"/>
          <p:cNvSpPr txBox="true"/>
          <p:nvPr/>
        </p:nvSpPr>
        <p:spPr>
          <a:xfrm rot="402389">
            <a:off x="1069412" y="7537554"/>
            <a:ext cx="5136439" cy="833531"/>
          </a:xfrm>
          <a:prstGeom prst="rect">
            <a:avLst/>
          </a:prstGeom>
        </p:spPr>
        <p:txBody>
          <a:bodyPr anchor="t" rtlCol="false" tIns="0" lIns="0" bIns="0" rIns="0">
            <a:spAutoFit/>
          </a:bodyPr>
          <a:lstStyle/>
          <a:p>
            <a:pPr algn="r">
              <a:lnSpc>
                <a:spcPts val="3405"/>
              </a:lnSpc>
            </a:pPr>
            <a:r>
              <a:rPr lang="en-US" sz="3511" spc="-196">
                <a:solidFill>
                  <a:srgbClr val="FFFFFF"/>
                </a:solidFill>
                <a:latin typeface="Comic Sans"/>
                <a:ea typeface="Comic Sans"/>
                <a:cs typeface="Comic Sans"/>
                <a:sym typeface="Comic Sans"/>
              </a:rPr>
              <a:t>Moving From Place To Place</a:t>
            </a:r>
          </a:p>
        </p:txBody>
      </p:sp>
      <p:sp>
        <p:nvSpPr>
          <p:cNvPr name="TextBox 12" id="12"/>
          <p:cNvSpPr txBox="true"/>
          <p:nvPr/>
        </p:nvSpPr>
        <p:spPr>
          <a:xfrm rot="0">
            <a:off x="529913" y="2190652"/>
            <a:ext cx="8476675" cy="3925943"/>
          </a:xfrm>
          <a:prstGeom prst="rect">
            <a:avLst/>
          </a:prstGeom>
        </p:spPr>
        <p:txBody>
          <a:bodyPr anchor="t" rtlCol="false" tIns="0" lIns="0" bIns="0" rIns="0">
            <a:spAutoFit/>
          </a:bodyPr>
          <a:lstStyle/>
          <a:p>
            <a:pPr algn="l">
              <a:lnSpc>
                <a:spcPts val="6113"/>
              </a:lnSpc>
            </a:pPr>
            <a:r>
              <a:rPr lang="en-US" sz="6793">
                <a:solidFill>
                  <a:srgbClr val="FFFFFF"/>
                </a:solidFill>
                <a:latin typeface="Gagalin"/>
                <a:ea typeface="Gagalin"/>
                <a:cs typeface="Gagalin"/>
                <a:sym typeface="Gagalin"/>
              </a:rPr>
              <a:t>Migration and Motus Wildlife Tracking across the National Estuarine Research Reserve System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A3E36"/>
        </a:solidFill>
      </p:bgPr>
    </p:bg>
    <p:spTree>
      <p:nvGrpSpPr>
        <p:cNvPr id="1" name=""/>
        <p:cNvGrpSpPr/>
        <p:nvPr/>
      </p:nvGrpSpPr>
      <p:grpSpPr>
        <a:xfrm>
          <a:off x="0" y="0"/>
          <a:ext cx="0" cy="0"/>
          <a:chOff x="0" y="0"/>
          <a:chExt cx="0" cy="0"/>
        </a:xfrm>
      </p:grpSpPr>
      <p:grpSp>
        <p:nvGrpSpPr>
          <p:cNvPr name="Group 2" id="2"/>
          <p:cNvGrpSpPr/>
          <p:nvPr/>
        </p:nvGrpSpPr>
        <p:grpSpPr>
          <a:xfrm rot="0">
            <a:off x="1028700" y="1161551"/>
            <a:ext cx="12389512" cy="1543050"/>
            <a:chOff x="0" y="0"/>
            <a:chExt cx="3263081" cy="406400"/>
          </a:xfrm>
        </p:grpSpPr>
        <p:sp>
          <p:nvSpPr>
            <p:cNvPr name="Freeform 3" id="3"/>
            <p:cNvSpPr/>
            <p:nvPr/>
          </p:nvSpPr>
          <p:spPr>
            <a:xfrm flipH="false" flipV="false" rot="0">
              <a:off x="0" y="0"/>
              <a:ext cx="3263081" cy="406400"/>
            </a:xfrm>
            <a:custGeom>
              <a:avLst/>
              <a:gdLst/>
              <a:ahLst/>
              <a:cxnLst/>
              <a:rect r="r" b="b" t="t" l="l"/>
              <a:pathLst>
                <a:path h="406400" w="3263081">
                  <a:moveTo>
                    <a:pt x="31869" y="0"/>
                  </a:moveTo>
                  <a:lnTo>
                    <a:pt x="3231213" y="0"/>
                  </a:lnTo>
                  <a:cubicBezTo>
                    <a:pt x="3239665" y="0"/>
                    <a:pt x="3247771" y="3358"/>
                    <a:pt x="3253747" y="9334"/>
                  </a:cubicBezTo>
                  <a:cubicBezTo>
                    <a:pt x="3259724" y="15311"/>
                    <a:pt x="3263081" y="23417"/>
                    <a:pt x="3263081" y="31869"/>
                  </a:cubicBezTo>
                  <a:lnTo>
                    <a:pt x="3263081" y="374531"/>
                  </a:lnTo>
                  <a:cubicBezTo>
                    <a:pt x="3263081" y="382983"/>
                    <a:pt x="3259724" y="391089"/>
                    <a:pt x="3253747" y="397066"/>
                  </a:cubicBezTo>
                  <a:cubicBezTo>
                    <a:pt x="3247771" y="403042"/>
                    <a:pt x="3239665" y="406400"/>
                    <a:pt x="3231213" y="406400"/>
                  </a:cubicBezTo>
                  <a:lnTo>
                    <a:pt x="31869" y="406400"/>
                  </a:lnTo>
                  <a:cubicBezTo>
                    <a:pt x="23417" y="406400"/>
                    <a:pt x="15311" y="403042"/>
                    <a:pt x="9334" y="397066"/>
                  </a:cubicBezTo>
                  <a:cubicBezTo>
                    <a:pt x="3358" y="391089"/>
                    <a:pt x="0" y="382983"/>
                    <a:pt x="0" y="374531"/>
                  </a:cubicBezTo>
                  <a:lnTo>
                    <a:pt x="0" y="31869"/>
                  </a:lnTo>
                  <a:cubicBezTo>
                    <a:pt x="0" y="23417"/>
                    <a:pt x="3358" y="15311"/>
                    <a:pt x="9334" y="9334"/>
                  </a:cubicBezTo>
                  <a:cubicBezTo>
                    <a:pt x="15311" y="3358"/>
                    <a:pt x="23417" y="0"/>
                    <a:pt x="31869" y="0"/>
                  </a:cubicBezTo>
                  <a:close/>
                </a:path>
              </a:pathLst>
            </a:custGeom>
            <a:solidFill>
              <a:srgbClr val="7B5A33"/>
            </a:solidFill>
          </p:spPr>
        </p:sp>
        <p:sp>
          <p:nvSpPr>
            <p:cNvPr name="TextBox 4" id="4"/>
            <p:cNvSpPr txBox="true"/>
            <p:nvPr/>
          </p:nvSpPr>
          <p:spPr>
            <a:xfrm>
              <a:off x="0" y="-57150"/>
              <a:ext cx="3263081" cy="463550"/>
            </a:xfrm>
            <a:prstGeom prst="rect">
              <a:avLst/>
            </a:prstGeom>
          </p:spPr>
          <p:txBody>
            <a:bodyPr anchor="ctr" rtlCol="false" tIns="50800" lIns="50800" bIns="50800" rIns="50800"/>
            <a:lstStyle/>
            <a:p>
              <a:pPr algn="ctr">
                <a:lnSpc>
                  <a:spcPts val="3150"/>
                </a:lnSpc>
              </a:pPr>
            </a:p>
          </p:txBody>
        </p:sp>
      </p:grpSp>
      <p:sp>
        <p:nvSpPr>
          <p:cNvPr name="Freeform 5" id="5"/>
          <p:cNvSpPr/>
          <p:nvPr/>
        </p:nvSpPr>
        <p:spPr>
          <a:xfrm flipH="false" flipV="false" rot="6327692">
            <a:off x="6317120" y="6977396"/>
            <a:ext cx="5174548" cy="3641000"/>
          </a:xfrm>
          <a:custGeom>
            <a:avLst/>
            <a:gdLst/>
            <a:ahLst/>
            <a:cxnLst/>
            <a:rect r="r" b="b" t="t" l="l"/>
            <a:pathLst>
              <a:path h="3641000" w="5174548">
                <a:moveTo>
                  <a:pt x="0" y="0"/>
                </a:moveTo>
                <a:lnTo>
                  <a:pt x="5174548" y="0"/>
                </a:lnTo>
                <a:lnTo>
                  <a:pt x="5174548" y="3641000"/>
                </a:lnTo>
                <a:lnTo>
                  <a:pt x="0" y="3641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528504">
            <a:off x="-329757" y="7159931"/>
            <a:ext cx="4655714" cy="3275930"/>
          </a:xfrm>
          <a:custGeom>
            <a:avLst/>
            <a:gdLst/>
            <a:ahLst/>
            <a:cxnLst/>
            <a:rect r="r" b="b" t="t" l="l"/>
            <a:pathLst>
              <a:path h="3275930" w="4655714">
                <a:moveTo>
                  <a:pt x="0" y="0"/>
                </a:moveTo>
                <a:lnTo>
                  <a:pt x="4655715" y="0"/>
                </a:lnTo>
                <a:lnTo>
                  <a:pt x="4655715" y="3275930"/>
                </a:lnTo>
                <a:lnTo>
                  <a:pt x="0" y="3275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a:grpSpLocks noChangeAspect="true"/>
          </p:cNvGrpSpPr>
          <p:nvPr/>
        </p:nvGrpSpPr>
        <p:grpSpPr>
          <a:xfrm rot="0">
            <a:off x="9335833" y="831875"/>
            <a:ext cx="8657067" cy="8623251"/>
            <a:chOff x="0" y="0"/>
            <a:chExt cx="6502400" cy="6477000"/>
          </a:xfrm>
        </p:grpSpPr>
        <p:sp>
          <p:nvSpPr>
            <p:cNvPr name="Freeform 8" id="8"/>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4"/>
              <a:stretch>
                <a:fillRect l="-38492" t="0" r="-38492" b="0"/>
              </a:stretch>
            </a:blipFill>
          </p:spPr>
        </p:sp>
        <p:sp>
          <p:nvSpPr>
            <p:cNvPr name="Freeform 9" id="9"/>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7B5A33"/>
            </a:solidFill>
          </p:spPr>
        </p:sp>
      </p:grpSp>
      <p:sp>
        <p:nvSpPr>
          <p:cNvPr name="TextBox 10" id="10"/>
          <p:cNvSpPr txBox="true"/>
          <p:nvPr/>
        </p:nvSpPr>
        <p:spPr>
          <a:xfrm rot="0">
            <a:off x="1372058" y="1512071"/>
            <a:ext cx="7771942" cy="899160"/>
          </a:xfrm>
          <a:prstGeom prst="rect">
            <a:avLst/>
          </a:prstGeom>
        </p:spPr>
        <p:txBody>
          <a:bodyPr anchor="t" rtlCol="false" tIns="0" lIns="0" bIns="0" rIns="0">
            <a:spAutoFit/>
          </a:bodyPr>
          <a:lstStyle/>
          <a:p>
            <a:pPr algn="l" marL="0" indent="0" lvl="0">
              <a:lnSpc>
                <a:spcPts val="6930"/>
              </a:lnSpc>
              <a:spcBef>
                <a:spcPct val="0"/>
              </a:spcBef>
            </a:pPr>
            <a:r>
              <a:rPr lang="en-US" sz="6300" spc="-283">
                <a:solidFill>
                  <a:srgbClr val="FFFFFF"/>
                </a:solidFill>
                <a:latin typeface="Gagalin"/>
                <a:ea typeface="Gagalin"/>
                <a:cs typeface="Gagalin"/>
                <a:sym typeface="Gagalin"/>
              </a:rPr>
              <a:t>Learning Objectives</a:t>
            </a:r>
          </a:p>
        </p:txBody>
      </p:sp>
      <p:sp>
        <p:nvSpPr>
          <p:cNvPr name="TextBox 11" id="11"/>
          <p:cNvSpPr txBox="true"/>
          <p:nvPr/>
        </p:nvSpPr>
        <p:spPr>
          <a:xfrm rot="0">
            <a:off x="71082" y="2992517"/>
            <a:ext cx="10373893" cy="7294483"/>
          </a:xfrm>
          <a:prstGeom prst="rect">
            <a:avLst/>
          </a:prstGeom>
        </p:spPr>
        <p:txBody>
          <a:bodyPr anchor="t" rtlCol="false" tIns="0" lIns="0" bIns="0" rIns="0">
            <a:spAutoFit/>
          </a:bodyPr>
          <a:lstStyle/>
          <a:p>
            <a:pPr algn="l" marL="742048" indent="-371024" lvl="1">
              <a:lnSpc>
                <a:spcPts val="4811"/>
              </a:lnSpc>
              <a:buFont typeface="Arial"/>
              <a:buChar char="•"/>
            </a:pPr>
            <a:r>
              <a:rPr lang="en-US" sz="3436" spc="-158">
                <a:solidFill>
                  <a:srgbClr val="FFFFFF"/>
                </a:solidFill>
                <a:latin typeface="Comic Sans"/>
                <a:ea typeface="Comic Sans"/>
                <a:cs typeface="Comic Sans"/>
                <a:sym typeface="Comic Sans"/>
              </a:rPr>
              <a:t>Learn about the Motus Wildlife Tracking System and its connection to the National Estuarine Research Reserve System (NERRS)</a:t>
            </a:r>
          </a:p>
          <a:p>
            <a:pPr algn="l">
              <a:lnSpc>
                <a:spcPts val="4811"/>
              </a:lnSpc>
            </a:pPr>
          </a:p>
          <a:p>
            <a:pPr algn="l" marL="742048" indent="-371024" lvl="1">
              <a:lnSpc>
                <a:spcPts val="4811"/>
              </a:lnSpc>
              <a:buFont typeface="Arial"/>
              <a:buChar char="•"/>
            </a:pPr>
            <a:r>
              <a:rPr lang="en-US" sz="3436" spc="-158">
                <a:solidFill>
                  <a:srgbClr val="FFFFFF"/>
                </a:solidFill>
                <a:latin typeface="Comic Sans"/>
                <a:ea typeface="Comic Sans"/>
                <a:cs typeface="Comic Sans"/>
                <a:sym typeface="Comic Sans"/>
              </a:rPr>
              <a:t>Engage </a:t>
            </a:r>
            <a:r>
              <a:rPr lang="en-US" sz="3436" spc="-158">
                <a:solidFill>
                  <a:srgbClr val="FFFFFF"/>
                </a:solidFill>
                <a:latin typeface="Comic Sans"/>
                <a:ea typeface="Comic Sans"/>
                <a:cs typeface="Comic Sans"/>
                <a:sym typeface="Comic Sans"/>
              </a:rPr>
              <a:t>with hands-on, creative, and collaborative activities to enhance the learning experience.</a:t>
            </a:r>
          </a:p>
          <a:p>
            <a:pPr algn="l">
              <a:lnSpc>
                <a:spcPts val="4811"/>
              </a:lnSpc>
            </a:pPr>
          </a:p>
          <a:p>
            <a:pPr algn="l" marL="742048" indent="-371024" lvl="1">
              <a:lnSpc>
                <a:spcPts val="4811"/>
              </a:lnSpc>
              <a:buFont typeface="Arial"/>
              <a:buChar char="•"/>
            </a:pPr>
            <a:r>
              <a:rPr lang="en-US" sz="3436" spc="-158">
                <a:solidFill>
                  <a:srgbClr val="FFFFFF"/>
                </a:solidFill>
                <a:latin typeface="Comic Sans"/>
                <a:ea typeface="Comic Sans"/>
                <a:cs typeface="Comic Sans"/>
                <a:sym typeface="Comic Sans"/>
              </a:rPr>
              <a:t>Develop sci</a:t>
            </a:r>
            <a:r>
              <a:rPr lang="en-US" sz="3436" spc="-158">
                <a:solidFill>
                  <a:srgbClr val="FFFFFF"/>
                </a:solidFill>
                <a:latin typeface="Comic Sans"/>
                <a:ea typeface="Comic Sans"/>
                <a:cs typeface="Comic Sans"/>
                <a:sym typeface="Comic Sans"/>
              </a:rPr>
              <a:t>entific skills such as data analysis, critical thinking, and applying knowledge to make educated predictions in response to posed questions.</a:t>
            </a:r>
          </a:p>
          <a:p>
            <a:pPr algn="l" marL="0" indent="0" lvl="0">
              <a:lnSpc>
                <a:spcPts val="4811"/>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A3E36"/>
        </a:solidFill>
      </p:bgPr>
    </p:bg>
    <p:spTree>
      <p:nvGrpSpPr>
        <p:cNvPr id="1" name=""/>
        <p:cNvGrpSpPr/>
        <p:nvPr/>
      </p:nvGrpSpPr>
      <p:grpSpPr>
        <a:xfrm>
          <a:off x="0" y="0"/>
          <a:ext cx="0" cy="0"/>
          <a:chOff x="0" y="0"/>
          <a:chExt cx="0" cy="0"/>
        </a:xfrm>
      </p:grpSpPr>
      <p:grpSp>
        <p:nvGrpSpPr>
          <p:cNvPr name="Group 2" id="2"/>
          <p:cNvGrpSpPr/>
          <p:nvPr/>
        </p:nvGrpSpPr>
        <p:grpSpPr>
          <a:xfrm rot="0">
            <a:off x="6298978" y="1028700"/>
            <a:ext cx="10960322" cy="1543050"/>
            <a:chOff x="0" y="0"/>
            <a:chExt cx="2886669" cy="406400"/>
          </a:xfrm>
        </p:grpSpPr>
        <p:sp>
          <p:nvSpPr>
            <p:cNvPr name="Freeform 3" id="3"/>
            <p:cNvSpPr/>
            <p:nvPr/>
          </p:nvSpPr>
          <p:spPr>
            <a:xfrm flipH="false" flipV="false" rot="0">
              <a:off x="0" y="0"/>
              <a:ext cx="2886669" cy="406400"/>
            </a:xfrm>
            <a:custGeom>
              <a:avLst/>
              <a:gdLst/>
              <a:ahLst/>
              <a:cxnLst/>
              <a:rect r="r" b="b" t="t" l="l"/>
              <a:pathLst>
                <a:path h="406400" w="2886669">
                  <a:moveTo>
                    <a:pt x="36024" y="0"/>
                  </a:moveTo>
                  <a:lnTo>
                    <a:pt x="2850645" y="0"/>
                  </a:lnTo>
                  <a:cubicBezTo>
                    <a:pt x="2860199" y="0"/>
                    <a:pt x="2869362" y="3795"/>
                    <a:pt x="2876118" y="10551"/>
                  </a:cubicBezTo>
                  <a:cubicBezTo>
                    <a:pt x="2882874" y="17307"/>
                    <a:pt x="2886669" y="26470"/>
                    <a:pt x="2886669" y="36024"/>
                  </a:cubicBezTo>
                  <a:lnTo>
                    <a:pt x="2886669" y="370376"/>
                  </a:lnTo>
                  <a:cubicBezTo>
                    <a:pt x="2886669" y="379930"/>
                    <a:pt x="2882874" y="389093"/>
                    <a:pt x="2876118" y="395849"/>
                  </a:cubicBezTo>
                  <a:cubicBezTo>
                    <a:pt x="2869362" y="402605"/>
                    <a:pt x="2860199" y="406400"/>
                    <a:pt x="2850645" y="406400"/>
                  </a:cubicBezTo>
                  <a:lnTo>
                    <a:pt x="36024" y="406400"/>
                  </a:lnTo>
                  <a:cubicBezTo>
                    <a:pt x="26470" y="406400"/>
                    <a:pt x="17307" y="402605"/>
                    <a:pt x="10551" y="395849"/>
                  </a:cubicBezTo>
                  <a:cubicBezTo>
                    <a:pt x="3795" y="389093"/>
                    <a:pt x="0" y="379930"/>
                    <a:pt x="0" y="370376"/>
                  </a:cubicBezTo>
                  <a:lnTo>
                    <a:pt x="0" y="36024"/>
                  </a:lnTo>
                  <a:cubicBezTo>
                    <a:pt x="0" y="26470"/>
                    <a:pt x="3795" y="17307"/>
                    <a:pt x="10551" y="10551"/>
                  </a:cubicBezTo>
                  <a:cubicBezTo>
                    <a:pt x="17307" y="3795"/>
                    <a:pt x="26470" y="0"/>
                    <a:pt x="36024" y="0"/>
                  </a:cubicBezTo>
                  <a:close/>
                </a:path>
              </a:pathLst>
            </a:custGeom>
            <a:solidFill>
              <a:srgbClr val="7B5A33"/>
            </a:solidFill>
          </p:spPr>
        </p:sp>
        <p:sp>
          <p:nvSpPr>
            <p:cNvPr name="TextBox 4" id="4"/>
            <p:cNvSpPr txBox="true"/>
            <p:nvPr/>
          </p:nvSpPr>
          <p:spPr>
            <a:xfrm>
              <a:off x="0" y="-57150"/>
              <a:ext cx="2886669" cy="463550"/>
            </a:xfrm>
            <a:prstGeom prst="rect">
              <a:avLst/>
            </a:prstGeom>
          </p:spPr>
          <p:txBody>
            <a:bodyPr anchor="ctr" rtlCol="false" tIns="50800" lIns="50800" bIns="50800" rIns="50800"/>
            <a:lstStyle/>
            <a:p>
              <a:pPr algn="ctr">
                <a:lnSpc>
                  <a:spcPts val="3150"/>
                </a:lnSpc>
              </a:pPr>
            </a:p>
          </p:txBody>
        </p:sp>
      </p:grpSp>
      <p:sp>
        <p:nvSpPr>
          <p:cNvPr name="TextBox 5" id="5"/>
          <p:cNvSpPr txBox="true"/>
          <p:nvPr/>
        </p:nvSpPr>
        <p:spPr>
          <a:xfrm rot="0">
            <a:off x="9942860" y="2707767"/>
            <a:ext cx="7861144" cy="4577324"/>
          </a:xfrm>
          <a:prstGeom prst="rect">
            <a:avLst/>
          </a:prstGeom>
        </p:spPr>
        <p:txBody>
          <a:bodyPr anchor="t" rtlCol="false" tIns="0" lIns="0" bIns="0" rIns="0">
            <a:spAutoFit/>
          </a:bodyPr>
          <a:lstStyle/>
          <a:p>
            <a:pPr algn="l" marL="0" indent="0" lvl="0">
              <a:lnSpc>
                <a:spcPts val="3604"/>
              </a:lnSpc>
              <a:spcBef>
                <a:spcPct val="0"/>
              </a:spcBef>
            </a:pPr>
            <a:r>
              <a:rPr lang="en-US" sz="3003" spc="-135">
                <a:solidFill>
                  <a:srgbClr val="FFFFFF"/>
                </a:solidFill>
                <a:latin typeface="Comic Sans"/>
                <a:ea typeface="Comic Sans"/>
                <a:cs typeface="Comic Sans"/>
                <a:sym typeface="Comic Sans"/>
              </a:rPr>
              <a:t>The National Estuarine Research Reserve System is a network of 30 coastal sites designated to protect and study estuarine systems in collaboration with and service to surrounding communities. Established through the Coastal Zone Management Act, this partnership program between NOAA and the coastal states supports ecosystem health and the interconnectedness of people and the environment.</a:t>
            </a:r>
          </a:p>
        </p:txBody>
      </p:sp>
      <p:sp>
        <p:nvSpPr>
          <p:cNvPr name="Freeform 6" id="6"/>
          <p:cNvSpPr/>
          <p:nvPr/>
        </p:nvSpPr>
        <p:spPr>
          <a:xfrm flipH="false" flipV="false" rot="-116643">
            <a:off x="10384959" y="7147940"/>
            <a:ext cx="3437085" cy="2818410"/>
          </a:xfrm>
          <a:custGeom>
            <a:avLst/>
            <a:gdLst/>
            <a:ahLst/>
            <a:cxnLst/>
            <a:rect r="r" b="b" t="t" l="l"/>
            <a:pathLst>
              <a:path h="2818410" w="3437085">
                <a:moveTo>
                  <a:pt x="0" y="0"/>
                </a:moveTo>
                <a:lnTo>
                  <a:pt x="3437086" y="0"/>
                </a:lnTo>
                <a:lnTo>
                  <a:pt x="3437086" y="2818410"/>
                </a:lnTo>
                <a:lnTo>
                  <a:pt x="0" y="28184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4036800">
            <a:off x="13466424" y="4819640"/>
            <a:ext cx="5433736" cy="3823374"/>
          </a:xfrm>
          <a:custGeom>
            <a:avLst/>
            <a:gdLst/>
            <a:ahLst/>
            <a:cxnLst/>
            <a:rect r="r" b="b" t="t" l="l"/>
            <a:pathLst>
              <a:path h="3823374" w="5433736">
                <a:moveTo>
                  <a:pt x="0" y="0"/>
                </a:moveTo>
                <a:lnTo>
                  <a:pt x="5433737" y="0"/>
                </a:lnTo>
                <a:lnTo>
                  <a:pt x="5433737" y="3823374"/>
                </a:lnTo>
                <a:lnTo>
                  <a:pt x="0" y="38233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252457" y="2707767"/>
            <a:ext cx="9399807" cy="6924979"/>
          </a:xfrm>
          <a:custGeom>
            <a:avLst/>
            <a:gdLst/>
            <a:ahLst/>
            <a:cxnLst/>
            <a:rect r="r" b="b" t="t" l="l"/>
            <a:pathLst>
              <a:path h="6924979" w="9399807">
                <a:moveTo>
                  <a:pt x="0" y="0"/>
                </a:moveTo>
                <a:lnTo>
                  <a:pt x="9399807" y="0"/>
                </a:lnTo>
                <a:lnTo>
                  <a:pt x="9399807" y="6924979"/>
                </a:lnTo>
                <a:lnTo>
                  <a:pt x="0" y="6924979"/>
                </a:lnTo>
                <a:lnTo>
                  <a:pt x="0" y="0"/>
                </a:lnTo>
                <a:close/>
              </a:path>
            </a:pathLst>
          </a:custGeom>
          <a:blipFill>
            <a:blip r:embed="rId6"/>
            <a:stretch>
              <a:fillRect l="0" t="0" r="0" b="0"/>
            </a:stretch>
          </a:blipFill>
        </p:spPr>
      </p:sp>
      <p:sp>
        <p:nvSpPr>
          <p:cNvPr name="TextBox 9" id="9"/>
          <p:cNvSpPr txBox="true"/>
          <p:nvPr/>
        </p:nvSpPr>
        <p:spPr>
          <a:xfrm rot="0">
            <a:off x="9652264" y="1455801"/>
            <a:ext cx="6558071" cy="822198"/>
          </a:xfrm>
          <a:prstGeom prst="rect">
            <a:avLst/>
          </a:prstGeom>
        </p:spPr>
        <p:txBody>
          <a:bodyPr anchor="t" rtlCol="false" tIns="0" lIns="0" bIns="0" rIns="0">
            <a:spAutoFit/>
          </a:bodyPr>
          <a:lstStyle/>
          <a:p>
            <a:pPr algn="l" marL="0" indent="0" lvl="0">
              <a:lnSpc>
                <a:spcPts val="6111"/>
              </a:lnSpc>
              <a:spcBef>
                <a:spcPct val="0"/>
              </a:spcBef>
            </a:pPr>
            <a:r>
              <a:rPr lang="en-US" sz="6300" spc="-352">
                <a:solidFill>
                  <a:srgbClr val="FFFFFF"/>
                </a:solidFill>
                <a:latin typeface="Gagalin"/>
                <a:ea typeface="Gagalin"/>
                <a:cs typeface="Gagalin"/>
                <a:sym typeface="Gagalin"/>
              </a:rPr>
              <a:t>What is the nerrs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A3E36"/>
        </a:solidFill>
      </p:bgPr>
    </p:bg>
    <p:spTree>
      <p:nvGrpSpPr>
        <p:cNvPr id="1" name=""/>
        <p:cNvGrpSpPr/>
        <p:nvPr/>
      </p:nvGrpSpPr>
      <p:grpSpPr>
        <a:xfrm>
          <a:off x="0" y="0"/>
          <a:ext cx="0" cy="0"/>
          <a:chOff x="0" y="0"/>
          <a:chExt cx="0" cy="0"/>
        </a:xfrm>
      </p:grpSpPr>
      <p:grpSp>
        <p:nvGrpSpPr>
          <p:cNvPr name="Group 2" id="2"/>
          <p:cNvGrpSpPr/>
          <p:nvPr/>
        </p:nvGrpSpPr>
        <p:grpSpPr>
          <a:xfrm rot="0">
            <a:off x="6298978" y="1028700"/>
            <a:ext cx="10960322" cy="1543050"/>
            <a:chOff x="0" y="0"/>
            <a:chExt cx="2886669" cy="406400"/>
          </a:xfrm>
        </p:grpSpPr>
        <p:sp>
          <p:nvSpPr>
            <p:cNvPr name="Freeform 3" id="3"/>
            <p:cNvSpPr/>
            <p:nvPr/>
          </p:nvSpPr>
          <p:spPr>
            <a:xfrm flipH="false" flipV="false" rot="0">
              <a:off x="0" y="0"/>
              <a:ext cx="2886669" cy="406400"/>
            </a:xfrm>
            <a:custGeom>
              <a:avLst/>
              <a:gdLst/>
              <a:ahLst/>
              <a:cxnLst/>
              <a:rect r="r" b="b" t="t" l="l"/>
              <a:pathLst>
                <a:path h="406400" w="2886669">
                  <a:moveTo>
                    <a:pt x="36024" y="0"/>
                  </a:moveTo>
                  <a:lnTo>
                    <a:pt x="2850645" y="0"/>
                  </a:lnTo>
                  <a:cubicBezTo>
                    <a:pt x="2860199" y="0"/>
                    <a:pt x="2869362" y="3795"/>
                    <a:pt x="2876118" y="10551"/>
                  </a:cubicBezTo>
                  <a:cubicBezTo>
                    <a:pt x="2882874" y="17307"/>
                    <a:pt x="2886669" y="26470"/>
                    <a:pt x="2886669" y="36024"/>
                  </a:cubicBezTo>
                  <a:lnTo>
                    <a:pt x="2886669" y="370376"/>
                  </a:lnTo>
                  <a:cubicBezTo>
                    <a:pt x="2886669" y="379930"/>
                    <a:pt x="2882874" y="389093"/>
                    <a:pt x="2876118" y="395849"/>
                  </a:cubicBezTo>
                  <a:cubicBezTo>
                    <a:pt x="2869362" y="402605"/>
                    <a:pt x="2860199" y="406400"/>
                    <a:pt x="2850645" y="406400"/>
                  </a:cubicBezTo>
                  <a:lnTo>
                    <a:pt x="36024" y="406400"/>
                  </a:lnTo>
                  <a:cubicBezTo>
                    <a:pt x="26470" y="406400"/>
                    <a:pt x="17307" y="402605"/>
                    <a:pt x="10551" y="395849"/>
                  </a:cubicBezTo>
                  <a:cubicBezTo>
                    <a:pt x="3795" y="389093"/>
                    <a:pt x="0" y="379930"/>
                    <a:pt x="0" y="370376"/>
                  </a:cubicBezTo>
                  <a:lnTo>
                    <a:pt x="0" y="36024"/>
                  </a:lnTo>
                  <a:cubicBezTo>
                    <a:pt x="0" y="26470"/>
                    <a:pt x="3795" y="17307"/>
                    <a:pt x="10551" y="10551"/>
                  </a:cubicBezTo>
                  <a:cubicBezTo>
                    <a:pt x="17307" y="3795"/>
                    <a:pt x="26470" y="0"/>
                    <a:pt x="36024" y="0"/>
                  </a:cubicBezTo>
                  <a:close/>
                </a:path>
              </a:pathLst>
            </a:custGeom>
            <a:solidFill>
              <a:srgbClr val="7B5A33"/>
            </a:solidFill>
          </p:spPr>
        </p:sp>
        <p:sp>
          <p:nvSpPr>
            <p:cNvPr name="TextBox 4" id="4"/>
            <p:cNvSpPr txBox="true"/>
            <p:nvPr/>
          </p:nvSpPr>
          <p:spPr>
            <a:xfrm>
              <a:off x="0" y="-57150"/>
              <a:ext cx="2886669" cy="463550"/>
            </a:xfrm>
            <a:prstGeom prst="rect">
              <a:avLst/>
            </a:prstGeom>
          </p:spPr>
          <p:txBody>
            <a:bodyPr anchor="ctr" rtlCol="false" tIns="50800" lIns="50800" bIns="50800" rIns="50800"/>
            <a:lstStyle/>
            <a:p>
              <a:pPr algn="ctr">
                <a:lnSpc>
                  <a:spcPts val="3150"/>
                </a:lnSpc>
              </a:pPr>
            </a:p>
          </p:txBody>
        </p:sp>
      </p:grpSp>
      <p:sp>
        <p:nvSpPr>
          <p:cNvPr name="TextBox 5" id="5"/>
          <p:cNvSpPr txBox="true"/>
          <p:nvPr/>
        </p:nvSpPr>
        <p:spPr>
          <a:xfrm rot="0">
            <a:off x="9611895" y="2795587"/>
            <a:ext cx="7873200" cy="4705350"/>
          </a:xfrm>
          <a:prstGeom prst="rect">
            <a:avLst/>
          </a:prstGeom>
        </p:spPr>
        <p:txBody>
          <a:bodyPr anchor="t" rtlCol="false" tIns="0" lIns="0" bIns="0" rIns="0">
            <a:spAutoFit/>
          </a:bodyPr>
          <a:lstStyle/>
          <a:p>
            <a:pPr algn="l">
              <a:lnSpc>
                <a:spcPts val="4199"/>
              </a:lnSpc>
            </a:pPr>
            <a:r>
              <a:rPr lang="en-US" sz="3499" spc="-157">
                <a:solidFill>
                  <a:srgbClr val="FFFFFF"/>
                </a:solidFill>
                <a:latin typeface="Comic Sans"/>
                <a:ea typeface="Comic Sans"/>
                <a:cs typeface="Comic Sans"/>
                <a:sym typeface="Comic Sans"/>
              </a:rPr>
              <a:t>The Motus Wildlife Tracking System is a radiotelemetry-based system used to detect tagged animals and track their locations and times of detection</a:t>
            </a:r>
          </a:p>
          <a:p>
            <a:pPr algn="l">
              <a:lnSpc>
                <a:spcPts val="4199"/>
              </a:lnSpc>
            </a:pPr>
          </a:p>
          <a:p>
            <a:pPr algn="l" marL="755647" indent="-377824" lvl="1">
              <a:lnSpc>
                <a:spcPts val="4199"/>
              </a:lnSpc>
              <a:buFont typeface="Arial"/>
              <a:buChar char="•"/>
            </a:pPr>
            <a:r>
              <a:rPr lang="en-US" sz="3499" spc="-157">
                <a:solidFill>
                  <a:srgbClr val="FFFFFF"/>
                </a:solidFill>
                <a:latin typeface="Comic Sans"/>
                <a:ea typeface="Comic Sans"/>
                <a:cs typeface="Comic Sans"/>
                <a:sym typeface="Comic Sans"/>
              </a:rPr>
              <a:t>How does it work?</a:t>
            </a:r>
          </a:p>
          <a:p>
            <a:pPr algn="l">
              <a:lnSpc>
                <a:spcPts val="4199"/>
              </a:lnSpc>
            </a:pPr>
          </a:p>
          <a:p>
            <a:pPr algn="l" marL="755647" indent="-377824" lvl="1">
              <a:lnSpc>
                <a:spcPts val="4199"/>
              </a:lnSpc>
              <a:buFont typeface="Arial"/>
              <a:buChar char="•"/>
            </a:pPr>
            <a:r>
              <a:rPr lang="en-US" sz="3499" spc="-157">
                <a:solidFill>
                  <a:srgbClr val="FFFFFF"/>
                </a:solidFill>
                <a:latin typeface="Comic Sans"/>
                <a:ea typeface="Comic Sans"/>
                <a:cs typeface="Comic Sans"/>
                <a:sym typeface="Comic Sans"/>
              </a:rPr>
              <a:t>Who can use the data?</a:t>
            </a:r>
          </a:p>
          <a:p>
            <a:pPr algn="l" marL="0" indent="0" lvl="0">
              <a:lnSpc>
                <a:spcPts val="4199"/>
              </a:lnSpc>
              <a:spcBef>
                <a:spcPct val="0"/>
              </a:spcBef>
            </a:pPr>
          </a:p>
        </p:txBody>
      </p:sp>
      <p:sp>
        <p:nvSpPr>
          <p:cNvPr name="Freeform 6" id="6"/>
          <p:cNvSpPr/>
          <p:nvPr/>
        </p:nvSpPr>
        <p:spPr>
          <a:xfrm flipH="false" flipV="false" rot="-116643">
            <a:off x="10384959" y="7147940"/>
            <a:ext cx="3437085" cy="2818410"/>
          </a:xfrm>
          <a:custGeom>
            <a:avLst/>
            <a:gdLst/>
            <a:ahLst/>
            <a:cxnLst/>
            <a:rect r="r" b="b" t="t" l="l"/>
            <a:pathLst>
              <a:path h="2818410" w="3437085">
                <a:moveTo>
                  <a:pt x="0" y="0"/>
                </a:moveTo>
                <a:lnTo>
                  <a:pt x="3437086" y="0"/>
                </a:lnTo>
                <a:lnTo>
                  <a:pt x="3437086" y="2818410"/>
                </a:lnTo>
                <a:lnTo>
                  <a:pt x="0" y="28184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4036800">
            <a:off x="13466424" y="4819640"/>
            <a:ext cx="5433736" cy="3823374"/>
          </a:xfrm>
          <a:custGeom>
            <a:avLst/>
            <a:gdLst/>
            <a:ahLst/>
            <a:cxnLst/>
            <a:rect r="r" b="b" t="t" l="l"/>
            <a:pathLst>
              <a:path h="3823374" w="5433736">
                <a:moveTo>
                  <a:pt x="0" y="0"/>
                </a:moveTo>
                <a:lnTo>
                  <a:pt x="5433737" y="0"/>
                </a:lnTo>
                <a:lnTo>
                  <a:pt x="5433737" y="3823374"/>
                </a:lnTo>
                <a:lnTo>
                  <a:pt x="0" y="38233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a:grpSpLocks noChangeAspect="true"/>
          </p:cNvGrpSpPr>
          <p:nvPr/>
        </p:nvGrpSpPr>
        <p:grpSpPr>
          <a:xfrm rot="0">
            <a:off x="413953" y="475875"/>
            <a:ext cx="8973705" cy="8938652"/>
            <a:chOff x="0" y="0"/>
            <a:chExt cx="6502400" cy="6477000"/>
          </a:xfrm>
        </p:grpSpPr>
        <p:sp>
          <p:nvSpPr>
            <p:cNvPr name="Freeform 9" id="9"/>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6"/>
              <a:stretch>
                <a:fillRect l="223" t="-16746" r="223" b="-16746"/>
              </a:stretch>
            </a:blipFill>
          </p:spPr>
        </p:sp>
        <p:sp>
          <p:nvSpPr>
            <p:cNvPr name="Freeform 10" id="10"/>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7B5A33"/>
            </a:solidFill>
          </p:spPr>
        </p:sp>
      </p:grpSp>
      <p:sp>
        <p:nvSpPr>
          <p:cNvPr name="Freeform 11" id="11"/>
          <p:cNvSpPr/>
          <p:nvPr/>
        </p:nvSpPr>
        <p:spPr>
          <a:xfrm flipH="false" flipV="false" rot="0">
            <a:off x="13548495" y="7195813"/>
            <a:ext cx="4749030" cy="3091187"/>
          </a:xfrm>
          <a:custGeom>
            <a:avLst/>
            <a:gdLst/>
            <a:ahLst/>
            <a:cxnLst/>
            <a:rect r="r" b="b" t="t" l="l"/>
            <a:pathLst>
              <a:path h="3091187" w="4749030">
                <a:moveTo>
                  <a:pt x="0" y="0"/>
                </a:moveTo>
                <a:lnTo>
                  <a:pt x="4749030" y="0"/>
                </a:lnTo>
                <a:lnTo>
                  <a:pt x="4749030" y="3091187"/>
                </a:lnTo>
                <a:lnTo>
                  <a:pt x="0" y="3091187"/>
                </a:lnTo>
                <a:lnTo>
                  <a:pt x="0" y="0"/>
                </a:lnTo>
                <a:close/>
              </a:path>
            </a:pathLst>
          </a:custGeom>
          <a:blipFill>
            <a:blip r:embed="rId7">
              <a:alphaModFix amt="57000"/>
            </a:blip>
            <a:stretch>
              <a:fillRect l="0" t="0" r="0" b="0"/>
            </a:stretch>
          </a:blipFill>
        </p:spPr>
      </p:sp>
      <p:sp>
        <p:nvSpPr>
          <p:cNvPr name="TextBox 12" id="12"/>
          <p:cNvSpPr txBox="true"/>
          <p:nvPr/>
        </p:nvSpPr>
        <p:spPr>
          <a:xfrm rot="0">
            <a:off x="9652264" y="1455801"/>
            <a:ext cx="6558071" cy="822198"/>
          </a:xfrm>
          <a:prstGeom prst="rect">
            <a:avLst/>
          </a:prstGeom>
        </p:spPr>
        <p:txBody>
          <a:bodyPr anchor="t" rtlCol="false" tIns="0" lIns="0" bIns="0" rIns="0">
            <a:spAutoFit/>
          </a:bodyPr>
          <a:lstStyle/>
          <a:p>
            <a:pPr algn="l" marL="0" indent="0" lvl="0">
              <a:lnSpc>
                <a:spcPts val="6111"/>
              </a:lnSpc>
              <a:spcBef>
                <a:spcPct val="0"/>
              </a:spcBef>
            </a:pPr>
            <a:r>
              <a:rPr lang="en-US" sz="6300" spc="-352">
                <a:solidFill>
                  <a:srgbClr val="FFFFFF"/>
                </a:solidFill>
                <a:latin typeface="Gagalin"/>
                <a:ea typeface="Gagalin"/>
                <a:cs typeface="Gagalin"/>
                <a:sym typeface="Gagalin"/>
              </a:rPr>
              <a:t>What is MOTUS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A3E36"/>
        </a:solidFill>
      </p:bgPr>
    </p:bg>
    <p:spTree>
      <p:nvGrpSpPr>
        <p:cNvPr id="1" name=""/>
        <p:cNvGrpSpPr/>
        <p:nvPr/>
      </p:nvGrpSpPr>
      <p:grpSpPr>
        <a:xfrm>
          <a:off x="0" y="0"/>
          <a:ext cx="0" cy="0"/>
          <a:chOff x="0" y="0"/>
          <a:chExt cx="0" cy="0"/>
        </a:xfrm>
      </p:grpSpPr>
      <p:grpSp>
        <p:nvGrpSpPr>
          <p:cNvPr name="Group 2" id="2"/>
          <p:cNvGrpSpPr/>
          <p:nvPr/>
        </p:nvGrpSpPr>
        <p:grpSpPr>
          <a:xfrm rot="0">
            <a:off x="6298978" y="1028700"/>
            <a:ext cx="10960322" cy="1543050"/>
            <a:chOff x="0" y="0"/>
            <a:chExt cx="2886669" cy="406400"/>
          </a:xfrm>
        </p:grpSpPr>
        <p:sp>
          <p:nvSpPr>
            <p:cNvPr name="Freeform 3" id="3"/>
            <p:cNvSpPr/>
            <p:nvPr/>
          </p:nvSpPr>
          <p:spPr>
            <a:xfrm flipH="false" flipV="false" rot="0">
              <a:off x="0" y="0"/>
              <a:ext cx="2886669" cy="406400"/>
            </a:xfrm>
            <a:custGeom>
              <a:avLst/>
              <a:gdLst/>
              <a:ahLst/>
              <a:cxnLst/>
              <a:rect r="r" b="b" t="t" l="l"/>
              <a:pathLst>
                <a:path h="406400" w="2886669">
                  <a:moveTo>
                    <a:pt x="36024" y="0"/>
                  </a:moveTo>
                  <a:lnTo>
                    <a:pt x="2850645" y="0"/>
                  </a:lnTo>
                  <a:cubicBezTo>
                    <a:pt x="2860199" y="0"/>
                    <a:pt x="2869362" y="3795"/>
                    <a:pt x="2876118" y="10551"/>
                  </a:cubicBezTo>
                  <a:cubicBezTo>
                    <a:pt x="2882874" y="17307"/>
                    <a:pt x="2886669" y="26470"/>
                    <a:pt x="2886669" y="36024"/>
                  </a:cubicBezTo>
                  <a:lnTo>
                    <a:pt x="2886669" y="370376"/>
                  </a:lnTo>
                  <a:cubicBezTo>
                    <a:pt x="2886669" y="379930"/>
                    <a:pt x="2882874" y="389093"/>
                    <a:pt x="2876118" y="395849"/>
                  </a:cubicBezTo>
                  <a:cubicBezTo>
                    <a:pt x="2869362" y="402605"/>
                    <a:pt x="2860199" y="406400"/>
                    <a:pt x="2850645" y="406400"/>
                  </a:cubicBezTo>
                  <a:lnTo>
                    <a:pt x="36024" y="406400"/>
                  </a:lnTo>
                  <a:cubicBezTo>
                    <a:pt x="26470" y="406400"/>
                    <a:pt x="17307" y="402605"/>
                    <a:pt x="10551" y="395849"/>
                  </a:cubicBezTo>
                  <a:cubicBezTo>
                    <a:pt x="3795" y="389093"/>
                    <a:pt x="0" y="379930"/>
                    <a:pt x="0" y="370376"/>
                  </a:cubicBezTo>
                  <a:lnTo>
                    <a:pt x="0" y="36024"/>
                  </a:lnTo>
                  <a:cubicBezTo>
                    <a:pt x="0" y="26470"/>
                    <a:pt x="3795" y="17307"/>
                    <a:pt x="10551" y="10551"/>
                  </a:cubicBezTo>
                  <a:cubicBezTo>
                    <a:pt x="17307" y="3795"/>
                    <a:pt x="26470" y="0"/>
                    <a:pt x="36024" y="0"/>
                  </a:cubicBezTo>
                  <a:close/>
                </a:path>
              </a:pathLst>
            </a:custGeom>
            <a:solidFill>
              <a:srgbClr val="7B5A33"/>
            </a:solidFill>
          </p:spPr>
        </p:sp>
        <p:sp>
          <p:nvSpPr>
            <p:cNvPr name="TextBox 4" id="4"/>
            <p:cNvSpPr txBox="true"/>
            <p:nvPr/>
          </p:nvSpPr>
          <p:spPr>
            <a:xfrm>
              <a:off x="0" y="-57150"/>
              <a:ext cx="2886669" cy="463550"/>
            </a:xfrm>
            <a:prstGeom prst="rect">
              <a:avLst/>
            </a:prstGeom>
          </p:spPr>
          <p:txBody>
            <a:bodyPr anchor="ctr" rtlCol="false" tIns="50800" lIns="50800" bIns="50800" rIns="50800"/>
            <a:lstStyle/>
            <a:p>
              <a:pPr algn="ctr">
                <a:lnSpc>
                  <a:spcPts val="3150"/>
                </a:lnSpc>
              </a:pPr>
            </a:p>
          </p:txBody>
        </p:sp>
      </p:grpSp>
      <p:sp>
        <p:nvSpPr>
          <p:cNvPr name="TextBox 5" id="5"/>
          <p:cNvSpPr txBox="true"/>
          <p:nvPr/>
        </p:nvSpPr>
        <p:spPr>
          <a:xfrm rot="0">
            <a:off x="9144000" y="1455801"/>
            <a:ext cx="7066334" cy="822198"/>
          </a:xfrm>
          <a:prstGeom prst="rect">
            <a:avLst/>
          </a:prstGeom>
        </p:spPr>
        <p:txBody>
          <a:bodyPr anchor="t" rtlCol="false" tIns="0" lIns="0" bIns="0" rIns="0">
            <a:spAutoFit/>
          </a:bodyPr>
          <a:lstStyle/>
          <a:p>
            <a:pPr algn="l" marL="0" indent="0" lvl="0">
              <a:lnSpc>
                <a:spcPts val="6111"/>
              </a:lnSpc>
              <a:spcBef>
                <a:spcPct val="0"/>
              </a:spcBef>
            </a:pPr>
            <a:r>
              <a:rPr lang="en-US" sz="6300" spc="-352">
                <a:solidFill>
                  <a:srgbClr val="FFFFFF"/>
                </a:solidFill>
                <a:latin typeface="Gagalin"/>
                <a:ea typeface="Gagalin"/>
                <a:cs typeface="Gagalin"/>
                <a:sym typeface="Gagalin"/>
              </a:rPr>
              <a:t>Motus and the Nerrs</a:t>
            </a:r>
          </a:p>
        </p:txBody>
      </p:sp>
      <p:sp>
        <p:nvSpPr>
          <p:cNvPr name="TextBox 6" id="6"/>
          <p:cNvSpPr txBox="true"/>
          <p:nvPr/>
        </p:nvSpPr>
        <p:spPr>
          <a:xfrm rot="0">
            <a:off x="9526046" y="2630626"/>
            <a:ext cx="8685630" cy="4629150"/>
          </a:xfrm>
          <a:prstGeom prst="rect">
            <a:avLst/>
          </a:prstGeom>
        </p:spPr>
        <p:txBody>
          <a:bodyPr anchor="t" rtlCol="false" tIns="0" lIns="0" bIns="0" rIns="0">
            <a:spAutoFit/>
          </a:bodyPr>
          <a:lstStyle/>
          <a:p>
            <a:pPr algn="l" marL="0" indent="0" lvl="0">
              <a:lnSpc>
                <a:spcPts val="4079"/>
              </a:lnSpc>
              <a:spcBef>
                <a:spcPct val="0"/>
              </a:spcBef>
            </a:pPr>
            <a:r>
              <a:rPr lang="en-US" sz="3399" spc="-152">
                <a:solidFill>
                  <a:srgbClr val="FFFFFF"/>
                </a:solidFill>
                <a:latin typeface="Comic Sans"/>
                <a:ea typeface="Comic Sans"/>
                <a:cs typeface="Comic Sans"/>
                <a:sym typeface="Comic Sans"/>
              </a:rPr>
              <a:t>The NERRS use the Motus system to study topics like migration patterns and flight speeds. Due to the significance of estuaries in the breeding and migration of coastal birds, Motus has greatly helped understand bird populations in the reserves. Knowledge gathered through Motus can then inform the NERRS to improve management and conservation practices!</a:t>
            </a:r>
          </a:p>
        </p:txBody>
      </p:sp>
      <p:sp>
        <p:nvSpPr>
          <p:cNvPr name="Freeform 7" id="7"/>
          <p:cNvSpPr/>
          <p:nvPr/>
        </p:nvSpPr>
        <p:spPr>
          <a:xfrm flipH="false" flipV="false" rot="-116643">
            <a:off x="10384959" y="7147940"/>
            <a:ext cx="3437085" cy="2818410"/>
          </a:xfrm>
          <a:custGeom>
            <a:avLst/>
            <a:gdLst/>
            <a:ahLst/>
            <a:cxnLst/>
            <a:rect r="r" b="b" t="t" l="l"/>
            <a:pathLst>
              <a:path h="2818410" w="3437085">
                <a:moveTo>
                  <a:pt x="0" y="0"/>
                </a:moveTo>
                <a:lnTo>
                  <a:pt x="3437086" y="0"/>
                </a:lnTo>
                <a:lnTo>
                  <a:pt x="3437086" y="2818410"/>
                </a:lnTo>
                <a:lnTo>
                  <a:pt x="0" y="28184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4036800">
            <a:off x="13466424" y="4819640"/>
            <a:ext cx="5433736" cy="3823374"/>
          </a:xfrm>
          <a:custGeom>
            <a:avLst/>
            <a:gdLst/>
            <a:ahLst/>
            <a:cxnLst/>
            <a:rect r="r" b="b" t="t" l="l"/>
            <a:pathLst>
              <a:path h="3823374" w="5433736">
                <a:moveTo>
                  <a:pt x="0" y="0"/>
                </a:moveTo>
                <a:lnTo>
                  <a:pt x="5433737" y="0"/>
                </a:lnTo>
                <a:lnTo>
                  <a:pt x="5433737" y="3823374"/>
                </a:lnTo>
                <a:lnTo>
                  <a:pt x="0" y="38233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a:grpSpLocks noChangeAspect="true"/>
          </p:cNvGrpSpPr>
          <p:nvPr/>
        </p:nvGrpSpPr>
        <p:grpSpPr>
          <a:xfrm rot="0">
            <a:off x="413953" y="475875"/>
            <a:ext cx="8973705" cy="8938652"/>
            <a:chOff x="0" y="0"/>
            <a:chExt cx="6502400" cy="6477000"/>
          </a:xfrm>
        </p:grpSpPr>
        <p:sp>
          <p:nvSpPr>
            <p:cNvPr name="Freeform 10" id="10"/>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6"/>
              <a:stretch>
                <a:fillRect l="-5085" t="0" r="-5085" b="0"/>
              </a:stretch>
            </a:blipFill>
          </p:spPr>
        </p:sp>
        <p:sp>
          <p:nvSpPr>
            <p:cNvPr name="Freeform 11" id="11"/>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7B5A33"/>
            </a:solid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A3E36"/>
        </a:solidFill>
      </p:bgPr>
    </p:bg>
    <p:spTree>
      <p:nvGrpSpPr>
        <p:cNvPr id="1" name=""/>
        <p:cNvGrpSpPr/>
        <p:nvPr/>
      </p:nvGrpSpPr>
      <p:grpSpPr>
        <a:xfrm>
          <a:off x="0" y="0"/>
          <a:ext cx="0" cy="0"/>
          <a:chOff x="0" y="0"/>
          <a:chExt cx="0" cy="0"/>
        </a:xfrm>
      </p:grpSpPr>
      <p:grpSp>
        <p:nvGrpSpPr>
          <p:cNvPr name="Group 2" id="2"/>
          <p:cNvGrpSpPr/>
          <p:nvPr/>
        </p:nvGrpSpPr>
        <p:grpSpPr>
          <a:xfrm rot="0">
            <a:off x="6298978" y="1028700"/>
            <a:ext cx="10960322" cy="1543050"/>
            <a:chOff x="0" y="0"/>
            <a:chExt cx="2886669" cy="406400"/>
          </a:xfrm>
        </p:grpSpPr>
        <p:sp>
          <p:nvSpPr>
            <p:cNvPr name="Freeform 3" id="3"/>
            <p:cNvSpPr/>
            <p:nvPr/>
          </p:nvSpPr>
          <p:spPr>
            <a:xfrm flipH="false" flipV="false" rot="0">
              <a:off x="0" y="0"/>
              <a:ext cx="2886669" cy="406400"/>
            </a:xfrm>
            <a:custGeom>
              <a:avLst/>
              <a:gdLst/>
              <a:ahLst/>
              <a:cxnLst/>
              <a:rect r="r" b="b" t="t" l="l"/>
              <a:pathLst>
                <a:path h="406400" w="2886669">
                  <a:moveTo>
                    <a:pt x="36024" y="0"/>
                  </a:moveTo>
                  <a:lnTo>
                    <a:pt x="2850645" y="0"/>
                  </a:lnTo>
                  <a:cubicBezTo>
                    <a:pt x="2860199" y="0"/>
                    <a:pt x="2869362" y="3795"/>
                    <a:pt x="2876118" y="10551"/>
                  </a:cubicBezTo>
                  <a:cubicBezTo>
                    <a:pt x="2882874" y="17307"/>
                    <a:pt x="2886669" y="26470"/>
                    <a:pt x="2886669" y="36024"/>
                  </a:cubicBezTo>
                  <a:lnTo>
                    <a:pt x="2886669" y="370376"/>
                  </a:lnTo>
                  <a:cubicBezTo>
                    <a:pt x="2886669" y="379930"/>
                    <a:pt x="2882874" y="389093"/>
                    <a:pt x="2876118" y="395849"/>
                  </a:cubicBezTo>
                  <a:cubicBezTo>
                    <a:pt x="2869362" y="402605"/>
                    <a:pt x="2860199" y="406400"/>
                    <a:pt x="2850645" y="406400"/>
                  </a:cubicBezTo>
                  <a:lnTo>
                    <a:pt x="36024" y="406400"/>
                  </a:lnTo>
                  <a:cubicBezTo>
                    <a:pt x="26470" y="406400"/>
                    <a:pt x="17307" y="402605"/>
                    <a:pt x="10551" y="395849"/>
                  </a:cubicBezTo>
                  <a:cubicBezTo>
                    <a:pt x="3795" y="389093"/>
                    <a:pt x="0" y="379930"/>
                    <a:pt x="0" y="370376"/>
                  </a:cubicBezTo>
                  <a:lnTo>
                    <a:pt x="0" y="36024"/>
                  </a:lnTo>
                  <a:cubicBezTo>
                    <a:pt x="0" y="26470"/>
                    <a:pt x="3795" y="17307"/>
                    <a:pt x="10551" y="10551"/>
                  </a:cubicBezTo>
                  <a:cubicBezTo>
                    <a:pt x="17307" y="3795"/>
                    <a:pt x="26470" y="0"/>
                    <a:pt x="36024" y="0"/>
                  </a:cubicBezTo>
                  <a:close/>
                </a:path>
              </a:pathLst>
            </a:custGeom>
            <a:solidFill>
              <a:srgbClr val="7B5A33"/>
            </a:solidFill>
          </p:spPr>
        </p:sp>
        <p:sp>
          <p:nvSpPr>
            <p:cNvPr name="TextBox 4" id="4"/>
            <p:cNvSpPr txBox="true"/>
            <p:nvPr/>
          </p:nvSpPr>
          <p:spPr>
            <a:xfrm>
              <a:off x="0" y="-57150"/>
              <a:ext cx="2886669" cy="463550"/>
            </a:xfrm>
            <a:prstGeom prst="rect">
              <a:avLst/>
            </a:prstGeom>
          </p:spPr>
          <p:txBody>
            <a:bodyPr anchor="ctr" rtlCol="false" tIns="50800" lIns="50800" bIns="50800" rIns="50800"/>
            <a:lstStyle/>
            <a:p>
              <a:pPr algn="ctr">
                <a:lnSpc>
                  <a:spcPts val="3150"/>
                </a:lnSpc>
              </a:pPr>
            </a:p>
          </p:txBody>
        </p:sp>
      </p:grpSp>
      <p:sp>
        <p:nvSpPr>
          <p:cNvPr name="TextBox 5" id="5"/>
          <p:cNvSpPr txBox="true"/>
          <p:nvPr/>
        </p:nvSpPr>
        <p:spPr>
          <a:xfrm rot="0">
            <a:off x="9144000" y="1228725"/>
            <a:ext cx="6558071" cy="1214615"/>
          </a:xfrm>
          <a:prstGeom prst="rect">
            <a:avLst/>
          </a:prstGeom>
        </p:spPr>
        <p:txBody>
          <a:bodyPr anchor="t" rtlCol="false" tIns="0" lIns="0" bIns="0" rIns="0">
            <a:spAutoFit/>
          </a:bodyPr>
          <a:lstStyle/>
          <a:p>
            <a:pPr algn="l" marL="0" indent="0" lvl="0">
              <a:lnSpc>
                <a:spcPts val="9020"/>
              </a:lnSpc>
              <a:spcBef>
                <a:spcPct val="0"/>
              </a:spcBef>
            </a:pPr>
            <a:r>
              <a:rPr lang="en-US" sz="9299" spc="-520">
                <a:solidFill>
                  <a:srgbClr val="FFFFFF"/>
                </a:solidFill>
                <a:latin typeface="Gagalin"/>
                <a:ea typeface="Gagalin"/>
                <a:cs typeface="Gagalin"/>
                <a:sym typeface="Gagalin"/>
              </a:rPr>
              <a:t>Migration </a:t>
            </a:r>
          </a:p>
        </p:txBody>
      </p:sp>
      <p:sp>
        <p:nvSpPr>
          <p:cNvPr name="TextBox 6" id="6"/>
          <p:cNvSpPr txBox="true"/>
          <p:nvPr/>
        </p:nvSpPr>
        <p:spPr>
          <a:xfrm rot="0">
            <a:off x="9652264" y="3038716"/>
            <a:ext cx="8269781" cy="4191000"/>
          </a:xfrm>
          <a:prstGeom prst="rect">
            <a:avLst/>
          </a:prstGeom>
        </p:spPr>
        <p:txBody>
          <a:bodyPr anchor="t" rtlCol="false" tIns="0" lIns="0" bIns="0" rIns="0">
            <a:spAutoFit/>
          </a:bodyPr>
          <a:lstStyle/>
          <a:p>
            <a:pPr algn="l">
              <a:lnSpc>
                <a:spcPts val="4799"/>
              </a:lnSpc>
            </a:pPr>
          </a:p>
          <a:p>
            <a:pPr algn="l" marL="863595" indent="-431797" lvl="1">
              <a:lnSpc>
                <a:spcPts val="4799"/>
              </a:lnSpc>
              <a:buFont typeface="Arial"/>
              <a:buChar char="•"/>
            </a:pPr>
            <a:r>
              <a:rPr lang="en-US" sz="3999" spc="-179">
                <a:solidFill>
                  <a:srgbClr val="FFFFFF"/>
                </a:solidFill>
                <a:latin typeface="Comic Sans"/>
                <a:ea typeface="Comic Sans"/>
                <a:cs typeface="Comic Sans"/>
                <a:sym typeface="Comic Sans"/>
              </a:rPr>
              <a:t>What is migration?</a:t>
            </a:r>
          </a:p>
          <a:p>
            <a:pPr algn="l">
              <a:lnSpc>
                <a:spcPts val="4799"/>
              </a:lnSpc>
            </a:pPr>
          </a:p>
          <a:p>
            <a:pPr algn="l" marL="863595" indent="-431797" lvl="1">
              <a:lnSpc>
                <a:spcPts val="4799"/>
              </a:lnSpc>
              <a:buFont typeface="Arial"/>
              <a:buChar char="•"/>
            </a:pPr>
            <a:r>
              <a:rPr lang="en-US" sz="3999" spc="-179">
                <a:solidFill>
                  <a:srgbClr val="FFFFFF"/>
                </a:solidFill>
                <a:latin typeface="Comic Sans"/>
                <a:ea typeface="Comic Sans"/>
                <a:cs typeface="Comic Sans"/>
                <a:sym typeface="Comic Sans"/>
              </a:rPr>
              <a:t>When does it occur?</a:t>
            </a:r>
          </a:p>
          <a:p>
            <a:pPr algn="l">
              <a:lnSpc>
                <a:spcPts val="4799"/>
              </a:lnSpc>
            </a:pPr>
          </a:p>
          <a:p>
            <a:pPr algn="l" marL="863595" indent="-431797" lvl="1">
              <a:lnSpc>
                <a:spcPts val="4799"/>
              </a:lnSpc>
              <a:buFont typeface="Arial"/>
              <a:buChar char="•"/>
            </a:pPr>
            <a:r>
              <a:rPr lang="en-US" sz="3999" spc="-179">
                <a:solidFill>
                  <a:srgbClr val="FFFFFF"/>
                </a:solidFill>
                <a:latin typeface="Comic Sans"/>
                <a:ea typeface="Comic Sans"/>
                <a:cs typeface="Comic Sans"/>
                <a:sym typeface="Comic Sans"/>
              </a:rPr>
              <a:t>What types of animals migrate?</a:t>
            </a:r>
          </a:p>
          <a:p>
            <a:pPr algn="l" marL="0" indent="0" lvl="0">
              <a:lnSpc>
                <a:spcPts val="4799"/>
              </a:lnSpc>
              <a:spcBef>
                <a:spcPct val="0"/>
              </a:spcBef>
            </a:pPr>
            <a:r>
              <a:rPr lang="en-US" sz="3999" spc="-179">
                <a:solidFill>
                  <a:srgbClr val="FFFFFF"/>
                </a:solidFill>
                <a:latin typeface="Comic Sans"/>
                <a:ea typeface="Comic Sans"/>
                <a:cs typeface="Comic Sans"/>
                <a:sym typeface="Comic Sans"/>
              </a:rPr>
              <a:t> </a:t>
            </a:r>
          </a:p>
        </p:txBody>
      </p:sp>
      <p:sp>
        <p:nvSpPr>
          <p:cNvPr name="Freeform 7" id="7"/>
          <p:cNvSpPr/>
          <p:nvPr/>
        </p:nvSpPr>
        <p:spPr>
          <a:xfrm flipH="false" flipV="false" rot="-116643">
            <a:off x="10384959" y="7147940"/>
            <a:ext cx="3437085" cy="2818410"/>
          </a:xfrm>
          <a:custGeom>
            <a:avLst/>
            <a:gdLst/>
            <a:ahLst/>
            <a:cxnLst/>
            <a:rect r="r" b="b" t="t" l="l"/>
            <a:pathLst>
              <a:path h="2818410" w="3437085">
                <a:moveTo>
                  <a:pt x="0" y="0"/>
                </a:moveTo>
                <a:lnTo>
                  <a:pt x="3437086" y="0"/>
                </a:lnTo>
                <a:lnTo>
                  <a:pt x="3437086" y="2818410"/>
                </a:lnTo>
                <a:lnTo>
                  <a:pt x="0" y="28184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4036800">
            <a:off x="13466424" y="4819640"/>
            <a:ext cx="5433736" cy="3823374"/>
          </a:xfrm>
          <a:custGeom>
            <a:avLst/>
            <a:gdLst/>
            <a:ahLst/>
            <a:cxnLst/>
            <a:rect r="r" b="b" t="t" l="l"/>
            <a:pathLst>
              <a:path h="3823374" w="5433736">
                <a:moveTo>
                  <a:pt x="0" y="0"/>
                </a:moveTo>
                <a:lnTo>
                  <a:pt x="5433737" y="0"/>
                </a:lnTo>
                <a:lnTo>
                  <a:pt x="5433737" y="3823374"/>
                </a:lnTo>
                <a:lnTo>
                  <a:pt x="0" y="38233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a:grpSpLocks noChangeAspect="true"/>
          </p:cNvGrpSpPr>
          <p:nvPr/>
        </p:nvGrpSpPr>
        <p:grpSpPr>
          <a:xfrm rot="0">
            <a:off x="413953" y="475875"/>
            <a:ext cx="8973705" cy="8938652"/>
            <a:chOff x="0" y="0"/>
            <a:chExt cx="6502400" cy="6477000"/>
          </a:xfrm>
        </p:grpSpPr>
        <p:sp>
          <p:nvSpPr>
            <p:cNvPr name="Freeform 10" id="10"/>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6"/>
              <a:stretch>
                <a:fillRect l="-24712" t="0" r="-24712" b="0"/>
              </a:stretch>
            </a:blipFill>
          </p:spPr>
        </p:sp>
        <p:sp>
          <p:nvSpPr>
            <p:cNvPr name="Freeform 11" id="11"/>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7B5A33"/>
            </a:solid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A3E36"/>
        </a:solidFill>
      </p:bgPr>
    </p:bg>
    <p:spTree>
      <p:nvGrpSpPr>
        <p:cNvPr id="1" name=""/>
        <p:cNvGrpSpPr/>
        <p:nvPr/>
      </p:nvGrpSpPr>
      <p:grpSpPr>
        <a:xfrm>
          <a:off x="0" y="0"/>
          <a:ext cx="0" cy="0"/>
          <a:chOff x="0" y="0"/>
          <a:chExt cx="0" cy="0"/>
        </a:xfrm>
      </p:grpSpPr>
      <p:grpSp>
        <p:nvGrpSpPr>
          <p:cNvPr name="Group 2" id="2"/>
          <p:cNvGrpSpPr/>
          <p:nvPr/>
        </p:nvGrpSpPr>
        <p:grpSpPr>
          <a:xfrm rot="0">
            <a:off x="6298978" y="1028700"/>
            <a:ext cx="10960322" cy="1543050"/>
            <a:chOff x="0" y="0"/>
            <a:chExt cx="2886669" cy="406400"/>
          </a:xfrm>
        </p:grpSpPr>
        <p:sp>
          <p:nvSpPr>
            <p:cNvPr name="Freeform 3" id="3"/>
            <p:cNvSpPr/>
            <p:nvPr/>
          </p:nvSpPr>
          <p:spPr>
            <a:xfrm flipH="false" flipV="false" rot="0">
              <a:off x="0" y="0"/>
              <a:ext cx="2886669" cy="406400"/>
            </a:xfrm>
            <a:custGeom>
              <a:avLst/>
              <a:gdLst/>
              <a:ahLst/>
              <a:cxnLst/>
              <a:rect r="r" b="b" t="t" l="l"/>
              <a:pathLst>
                <a:path h="406400" w="2886669">
                  <a:moveTo>
                    <a:pt x="36024" y="0"/>
                  </a:moveTo>
                  <a:lnTo>
                    <a:pt x="2850645" y="0"/>
                  </a:lnTo>
                  <a:cubicBezTo>
                    <a:pt x="2860199" y="0"/>
                    <a:pt x="2869362" y="3795"/>
                    <a:pt x="2876118" y="10551"/>
                  </a:cubicBezTo>
                  <a:cubicBezTo>
                    <a:pt x="2882874" y="17307"/>
                    <a:pt x="2886669" y="26470"/>
                    <a:pt x="2886669" y="36024"/>
                  </a:cubicBezTo>
                  <a:lnTo>
                    <a:pt x="2886669" y="370376"/>
                  </a:lnTo>
                  <a:cubicBezTo>
                    <a:pt x="2886669" y="379930"/>
                    <a:pt x="2882874" y="389093"/>
                    <a:pt x="2876118" y="395849"/>
                  </a:cubicBezTo>
                  <a:cubicBezTo>
                    <a:pt x="2869362" y="402605"/>
                    <a:pt x="2860199" y="406400"/>
                    <a:pt x="2850645" y="406400"/>
                  </a:cubicBezTo>
                  <a:lnTo>
                    <a:pt x="36024" y="406400"/>
                  </a:lnTo>
                  <a:cubicBezTo>
                    <a:pt x="26470" y="406400"/>
                    <a:pt x="17307" y="402605"/>
                    <a:pt x="10551" y="395849"/>
                  </a:cubicBezTo>
                  <a:cubicBezTo>
                    <a:pt x="3795" y="389093"/>
                    <a:pt x="0" y="379930"/>
                    <a:pt x="0" y="370376"/>
                  </a:cubicBezTo>
                  <a:lnTo>
                    <a:pt x="0" y="36024"/>
                  </a:lnTo>
                  <a:cubicBezTo>
                    <a:pt x="0" y="26470"/>
                    <a:pt x="3795" y="17307"/>
                    <a:pt x="10551" y="10551"/>
                  </a:cubicBezTo>
                  <a:cubicBezTo>
                    <a:pt x="17307" y="3795"/>
                    <a:pt x="26470" y="0"/>
                    <a:pt x="36024" y="0"/>
                  </a:cubicBezTo>
                  <a:close/>
                </a:path>
              </a:pathLst>
            </a:custGeom>
            <a:solidFill>
              <a:srgbClr val="7B5A33"/>
            </a:solidFill>
          </p:spPr>
        </p:sp>
        <p:sp>
          <p:nvSpPr>
            <p:cNvPr name="TextBox 4" id="4"/>
            <p:cNvSpPr txBox="true"/>
            <p:nvPr/>
          </p:nvSpPr>
          <p:spPr>
            <a:xfrm>
              <a:off x="0" y="-57150"/>
              <a:ext cx="2886669" cy="463550"/>
            </a:xfrm>
            <a:prstGeom prst="rect">
              <a:avLst/>
            </a:prstGeom>
          </p:spPr>
          <p:txBody>
            <a:bodyPr anchor="ctr" rtlCol="false" tIns="50800" lIns="50800" bIns="50800" rIns="50800"/>
            <a:lstStyle/>
            <a:p>
              <a:pPr algn="ctr">
                <a:lnSpc>
                  <a:spcPts val="3150"/>
                </a:lnSpc>
              </a:pPr>
            </a:p>
          </p:txBody>
        </p:sp>
      </p:grpSp>
      <p:sp>
        <p:nvSpPr>
          <p:cNvPr name="TextBox 5" id="5"/>
          <p:cNvSpPr txBox="true"/>
          <p:nvPr/>
        </p:nvSpPr>
        <p:spPr>
          <a:xfrm rot="0">
            <a:off x="9652264" y="1455801"/>
            <a:ext cx="6558071" cy="822198"/>
          </a:xfrm>
          <a:prstGeom prst="rect">
            <a:avLst/>
          </a:prstGeom>
        </p:spPr>
        <p:txBody>
          <a:bodyPr anchor="t" rtlCol="false" tIns="0" lIns="0" bIns="0" rIns="0">
            <a:spAutoFit/>
          </a:bodyPr>
          <a:lstStyle/>
          <a:p>
            <a:pPr algn="l" marL="0" indent="0" lvl="0">
              <a:lnSpc>
                <a:spcPts val="6111"/>
              </a:lnSpc>
              <a:spcBef>
                <a:spcPct val="0"/>
              </a:spcBef>
            </a:pPr>
            <a:r>
              <a:rPr lang="en-US" sz="6300" spc="-352">
                <a:solidFill>
                  <a:srgbClr val="FFFFFF"/>
                </a:solidFill>
                <a:latin typeface="Gagalin"/>
                <a:ea typeface="Gagalin"/>
                <a:cs typeface="Gagalin"/>
                <a:sym typeface="Gagalin"/>
              </a:rPr>
              <a:t>Migration ?</a:t>
            </a:r>
          </a:p>
        </p:txBody>
      </p:sp>
      <p:sp>
        <p:nvSpPr>
          <p:cNvPr name="TextBox 6" id="6"/>
          <p:cNvSpPr txBox="true"/>
          <p:nvPr/>
        </p:nvSpPr>
        <p:spPr>
          <a:xfrm rot="0">
            <a:off x="9652264" y="3029191"/>
            <a:ext cx="8240473" cy="5334000"/>
          </a:xfrm>
          <a:prstGeom prst="rect">
            <a:avLst/>
          </a:prstGeom>
        </p:spPr>
        <p:txBody>
          <a:bodyPr anchor="t" rtlCol="false" tIns="0" lIns="0" bIns="0" rIns="0">
            <a:spAutoFit/>
          </a:bodyPr>
          <a:lstStyle/>
          <a:p>
            <a:pPr algn="l">
              <a:lnSpc>
                <a:spcPts val="5279"/>
              </a:lnSpc>
            </a:pPr>
          </a:p>
          <a:p>
            <a:pPr algn="l" marL="949952" indent="-474976" lvl="1">
              <a:lnSpc>
                <a:spcPts val="5279"/>
              </a:lnSpc>
              <a:buFont typeface="Arial"/>
              <a:buChar char="•"/>
            </a:pPr>
            <a:r>
              <a:rPr lang="en-US" sz="4399" spc="-197">
                <a:solidFill>
                  <a:srgbClr val="FFFFFF"/>
                </a:solidFill>
                <a:latin typeface="Comic Sans"/>
                <a:ea typeface="Comic Sans"/>
                <a:cs typeface="Comic Sans"/>
                <a:sym typeface="Comic Sans"/>
              </a:rPr>
              <a:t>What are the benefits of migration to birds?</a:t>
            </a:r>
          </a:p>
          <a:p>
            <a:pPr algn="l">
              <a:lnSpc>
                <a:spcPts val="5279"/>
              </a:lnSpc>
            </a:pPr>
          </a:p>
          <a:p>
            <a:pPr algn="l" marL="949952" indent="-474976" lvl="1">
              <a:lnSpc>
                <a:spcPts val="5279"/>
              </a:lnSpc>
              <a:buFont typeface="Arial"/>
              <a:buChar char="•"/>
            </a:pPr>
            <a:r>
              <a:rPr lang="en-US" sz="4399" spc="-197">
                <a:solidFill>
                  <a:srgbClr val="FFFFFF"/>
                </a:solidFill>
                <a:latin typeface="Comic Sans"/>
                <a:ea typeface="Comic Sans"/>
                <a:cs typeface="Comic Sans"/>
                <a:sym typeface="Comic Sans"/>
              </a:rPr>
              <a:t>What could be potential challenges with migration?</a:t>
            </a:r>
          </a:p>
          <a:p>
            <a:pPr algn="l">
              <a:lnSpc>
                <a:spcPts val="5279"/>
              </a:lnSpc>
            </a:pPr>
          </a:p>
          <a:p>
            <a:pPr algn="l" marL="0" indent="0" lvl="0">
              <a:lnSpc>
                <a:spcPts val="5279"/>
              </a:lnSpc>
              <a:spcBef>
                <a:spcPct val="0"/>
              </a:spcBef>
            </a:pPr>
            <a:r>
              <a:rPr lang="en-US" sz="4399" spc="-197">
                <a:solidFill>
                  <a:srgbClr val="FFFFFF"/>
                </a:solidFill>
                <a:latin typeface="Comic Sans"/>
                <a:ea typeface="Comic Sans"/>
                <a:cs typeface="Comic Sans"/>
                <a:sym typeface="Comic Sans"/>
              </a:rPr>
              <a:t> </a:t>
            </a:r>
          </a:p>
        </p:txBody>
      </p:sp>
      <p:sp>
        <p:nvSpPr>
          <p:cNvPr name="Freeform 7" id="7"/>
          <p:cNvSpPr/>
          <p:nvPr/>
        </p:nvSpPr>
        <p:spPr>
          <a:xfrm flipH="false" flipV="false" rot="-116643">
            <a:off x="10384959" y="7147940"/>
            <a:ext cx="3437085" cy="2818410"/>
          </a:xfrm>
          <a:custGeom>
            <a:avLst/>
            <a:gdLst/>
            <a:ahLst/>
            <a:cxnLst/>
            <a:rect r="r" b="b" t="t" l="l"/>
            <a:pathLst>
              <a:path h="2818410" w="3437085">
                <a:moveTo>
                  <a:pt x="0" y="0"/>
                </a:moveTo>
                <a:lnTo>
                  <a:pt x="3437086" y="0"/>
                </a:lnTo>
                <a:lnTo>
                  <a:pt x="3437086" y="2818410"/>
                </a:lnTo>
                <a:lnTo>
                  <a:pt x="0" y="28184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4036800">
            <a:off x="13466424" y="4819640"/>
            <a:ext cx="5433736" cy="3823374"/>
          </a:xfrm>
          <a:custGeom>
            <a:avLst/>
            <a:gdLst/>
            <a:ahLst/>
            <a:cxnLst/>
            <a:rect r="r" b="b" t="t" l="l"/>
            <a:pathLst>
              <a:path h="3823374" w="5433736">
                <a:moveTo>
                  <a:pt x="0" y="0"/>
                </a:moveTo>
                <a:lnTo>
                  <a:pt x="5433737" y="0"/>
                </a:lnTo>
                <a:lnTo>
                  <a:pt x="5433737" y="3823374"/>
                </a:lnTo>
                <a:lnTo>
                  <a:pt x="0" y="38233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a:grpSpLocks noChangeAspect="true"/>
          </p:cNvGrpSpPr>
          <p:nvPr/>
        </p:nvGrpSpPr>
        <p:grpSpPr>
          <a:xfrm rot="0">
            <a:off x="413953" y="475875"/>
            <a:ext cx="8973705" cy="8938652"/>
            <a:chOff x="0" y="0"/>
            <a:chExt cx="6502400" cy="6477000"/>
          </a:xfrm>
        </p:grpSpPr>
        <p:sp>
          <p:nvSpPr>
            <p:cNvPr name="Freeform 10" id="10"/>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6"/>
              <a:stretch>
                <a:fillRect l="-24572" t="0" r="-24572" b="0"/>
              </a:stretch>
            </a:blipFill>
          </p:spPr>
        </p:sp>
        <p:sp>
          <p:nvSpPr>
            <p:cNvPr name="Freeform 11" id="11"/>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7B5A33"/>
            </a:solid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A3E36"/>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1675375" cy="1439899"/>
            <a:chOff x="0" y="0"/>
            <a:chExt cx="3074996" cy="379233"/>
          </a:xfrm>
        </p:grpSpPr>
        <p:sp>
          <p:nvSpPr>
            <p:cNvPr name="Freeform 3" id="3"/>
            <p:cNvSpPr/>
            <p:nvPr/>
          </p:nvSpPr>
          <p:spPr>
            <a:xfrm flipH="false" flipV="false" rot="0">
              <a:off x="0" y="0"/>
              <a:ext cx="3074996" cy="379233"/>
            </a:xfrm>
            <a:custGeom>
              <a:avLst/>
              <a:gdLst/>
              <a:ahLst/>
              <a:cxnLst/>
              <a:rect r="r" b="b" t="t" l="l"/>
              <a:pathLst>
                <a:path h="379233" w="3074996">
                  <a:moveTo>
                    <a:pt x="33818" y="0"/>
                  </a:moveTo>
                  <a:lnTo>
                    <a:pt x="3041178" y="0"/>
                  </a:lnTo>
                  <a:cubicBezTo>
                    <a:pt x="3050147" y="0"/>
                    <a:pt x="3058749" y="3563"/>
                    <a:pt x="3065091" y="9905"/>
                  </a:cubicBezTo>
                  <a:cubicBezTo>
                    <a:pt x="3071433" y="16247"/>
                    <a:pt x="3074996" y="24849"/>
                    <a:pt x="3074996" y="33818"/>
                  </a:cubicBezTo>
                  <a:lnTo>
                    <a:pt x="3074996" y="345415"/>
                  </a:lnTo>
                  <a:cubicBezTo>
                    <a:pt x="3074996" y="364092"/>
                    <a:pt x="3059855" y="379233"/>
                    <a:pt x="3041178" y="379233"/>
                  </a:cubicBezTo>
                  <a:lnTo>
                    <a:pt x="33818" y="379233"/>
                  </a:lnTo>
                  <a:cubicBezTo>
                    <a:pt x="24849" y="379233"/>
                    <a:pt x="16247" y="375670"/>
                    <a:pt x="9905" y="369328"/>
                  </a:cubicBezTo>
                  <a:cubicBezTo>
                    <a:pt x="3563" y="362985"/>
                    <a:pt x="0" y="354384"/>
                    <a:pt x="0" y="345415"/>
                  </a:cubicBezTo>
                  <a:lnTo>
                    <a:pt x="0" y="33818"/>
                  </a:lnTo>
                  <a:cubicBezTo>
                    <a:pt x="0" y="15141"/>
                    <a:pt x="15141" y="0"/>
                    <a:pt x="33818" y="0"/>
                  </a:cubicBezTo>
                  <a:close/>
                </a:path>
              </a:pathLst>
            </a:custGeom>
            <a:solidFill>
              <a:srgbClr val="7B5A33"/>
            </a:solidFill>
          </p:spPr>
        </p:sp>
        <p:sp>
          <p:nvSpPr>
            <p:cNvPr name="TextBox 4" id="4"/>
            <p:cNvSpPr txBox="true"/>
            <p:nvPr/>
          </p:nvSpPr>
          <p:spPr>
            <a:xfrm>
              <a:off x="0" y="-57150"/>
              <a:ext cx="3074996" cy="436383"/>
            </a:xfrm>
            <a:prstGeom prst="rect">
              <a:avLst/>
            </a:prstGeom>
          </p:spPr>
          <p:txBody>
            <a:bodyPr anchor="ctr" rtlCol="false" tIns="50800" lIns="50800" bIns="50800" rIns="50800"/>
            <a:lstStyle/>
            <a:p>
              <a:pPr algn="ctr">
                <a:lnSpc>
                  <a:spcPts val="3150"/>
                </a:lnSpc>
              </a:pPr>
            </a:p>
          </p:txBody>
        </p:sp>
      </p:grpSp>
      <p:sp>
        <p:nvSpPr>
          <p:cNvPr name="TextBox 5" id="5"/>
          <p:cNvSpPr txBox="true"/>
          <p:nvPr/>
        </p:nvSpPr>
        <p:spPr>
          <a:xfrm rot="0">
            <a:off x="1595718" y="1334879"/>
            <a:ext cx="8200306" cy="899160"/>
          </a:xfrm>
          <a:prstGeom prst="rect">
            <a:avLst/>
          </a:prstGeom>
        </p:spPr>
        <p:txBody>
          <a:bodyPr anchor="t" rtlCol="false" tIns="0" lIns="0" bIns="0" rIns="0">
            <a:spAutoFit/>
          </a:bodyPr>
          <a:lstStyle/>
          <a:p>
            <a:pPr algn="ctr" marL="0" indent="0" lvl="0">
              <a:lnSpc>
                <a:spcPts val="6930"/>
              </a:lnSpc>
              <a:spcBef>
                <a:spcPct val="0"/>
              </a:spcBef>
            </a:pPr>
            <a:r>
              <a:rPr lang="en-US" sz="6300" spc="-283">
                <a:solidFill>
                  <a:srgbClr val="FFFFFF"/>
                </a:solidFill>
                <a:latin typeface="Gagalin"/>
                <a:ea typeface="Gagalin"/>
                <a:cs typeface="Gagalin"/>
                <a:sym typeface="Gagalin"/>
              </a:rPr>
              <a:t>range</a:t>
            </a:r>
          </a:p>
        </p:txBody>
      </p:sp>
      <p:sp>
        <p:nvSpPr>
          <p:cNvPr name="TextBox 6" id="6"/>
          <p:cNvSpPr txBox="true"/>
          <p:nvPr/>
        </p:nvSpPr>
        <p:spPr>
          <a:xfrm rot="0">
            <a:off x="1028700" y="3810445"/>
            <a:ext cx="7548282" cy="4705351"/>
          </a:xfrm>
          <a:prstGeom prst="rect">
            <a:avLst/>
          </a:prstGeom>
        </p:spPr>
        <p:txBody>
          <a:bodyPr anchor="t" rtlCol="false" tIns="0" lIns="0" bIns="0" rIns="0">
            <a:spAutoFit/>
          </a:bodyPr>
          <a:lstStyle/>
          <a:p>
            <a:pPr algn="l" marL="971542" indent="-485771" lvl="1">
              <a:lnSpc>
                <a:spcPts val="6299"/>
              </a:lnSpc>
              <a:buFont typeface="Arial"/>
              <a:buChar char="•"/>
            </a:pPr>
            <a:r>
              <a:rPr lang="en-US" sz="4499" spc="-206">
                <a:solidFill>
                  <a:srgbClr val="FFFFFF"/>
                </a:solidFill>
                <a:latin typeface="Comic Sans"/>
                <a:ea typeface="Comic Sans"/>
                <a:cs typeface="Comic Sans"/>
                <a:sym typeface="Comic Sans"/>
              </a:rPr>
              <a:t>What is a species range?</a:t>
            </a:r>
          </a:p>
          <a:p>
            <a:pPr algn="l">
              <a:lnSpc>
                <a:spcPts val="6299"/>
              </a:lnSpc>
            </a:pPr>
          </a:p>
          <a:p>
            <a:pPr algn="l" marL="971542" indent="-485771" lvl="1">
              <a:lnSpc>
                <a:spcPts val="6299"/>
              </a:lnSpc>
              <a:buFont typeface="Arial"/>
              <a:buChar char="•"/>
            </a:pPr>
            <a:r>
              <a:rPr lang="en-US" sz="4499" spc="-206">
                <a:solidFill>
                  <a:srgbClr val="FFFFFF"/>
                </a:solidFill>
                <a:latin typeface="Comic Sans"/>
                <a:ea typeface="Comic Sans"/>
                <a:cs typeface="Comic Sans"/>
                <a:sym typeface="Comic Sans"/>
              </a:rPr>
              <a:t>How is range different for migratory species?</a:t>
            </a:r>
          </a:p>
          <a:p>
            <a:pPr algn="l">
              <a:lnSpc>
                <a:spcPts val="6299"/>
              </a:lnSpc>
            </a:pPr>
          </a:p>
          <a:p>
            <a:pPr algn="l">
              <a:lnSpc>
                <a:spcPts val="6299"/>
              </a:lnSpc>
            </a:pPr>
          </a:p>
        </p:txBody>
      </p:sp>
      <p:grpSp>
        <p:nvGrpSpPr>
          <p:cNvPr name="Group 7" id="7"/>
          <p:cNvGrpSpPr>
            <a:grpSpLocks noChangeAspect="true"/>
          </p:cNvGrpSpPr>
          <p:nvPr/>
        </p:nvGrpSpPr>
        <p:grpSpPr>
          <a:xfrm rot="0">
            <a:off x="8921763" y="674174"/>
            <a:ext cx="8973705" cy="8938652"/>
            <a:chOff x="0" y="0"/>
            <a:chExt cx="6502400" cy="6477000"/>
          </a:xfrm>
        </p:grpSpPr>
        <p:sp>
          <p:nvSpPr>
            <p:cNvPr name="Freeform 8" id="8"/>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2"/>
              <a:stretch>
                <a:fillRect l="223" t="-10043" r="223" b="-10043"/>
              </a:stretch>
            </a:blipFill>
          </p:spPr>
        </p:sp>
        <p:sp>
          <p:nvSpPr>
            <p:cNvPr name="Freeform 9" id="9"/>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7B5A33"/>
            </a:solidFill>
          </p:spPr>
        </p:sp>
      </p:grpSp>
      <p:sp>
        <p:nvSpPr>
          <p:cNvPr name="Freeform 10" id="10"/>
          <p:cNvSpPr/>
          <p:nvPr/>
        </p:nvSpPr>
        <p:spPr>
          <a:xfrm flipH="false" flipV="false" rot="-10528504">
            <a:off x="-575089" y="7822328"/>
            <a:ext cx="4655714" cy="3275930"/>
          </a:xfrm>
          <a:custGeom>
            <a:avLst/>
            <a:gdLst/>
            <a:ahLst/>
            <a:cxnLst/>
            <a:rect r="r" b="b" t="t" l="l"/>
            <a:pathLst>
              <a:path h="3275930" w="4655714">
                <a:moveTo>
                  <a:pt x="0" y="0"/>
                </a:moveTo>
                <a:lnTo>
                  <a:pt x="4655714" y="0"/>
                </a:lnTo>
                <a:lnTo>
                  <a:pt x="4655714" y="3275930"/>
                </a:lnTo>
                <a:lnTo>
                  <a:pt x="0" y="32759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6485900">
            <a:off x="5648087" y="7974861"/>
            <a:ext cx="4655714" cy="3275930"/>
          </a:xfrm>
          <a:custGeom>
            <a:avLst/>
            <a:gdLst/>
            <a:ahLst/>
            <a:cxnLst/>
            <a:rect r="r" b="b" t="t" l="l"/>
            <a:pathLst>
              <a:path h="3275930" w="4655714">
                <a:moveTo>
                  <a:pt x="0" y="0"/>
                </a:moveTo>
                <a:lnTo>
                  <a:pt x="4655715" y="0"/>
                </a:lnTo>
                <a:lnTo>
                  <a:pt x="4655715" y="3275930"/>
                </a:lnTo>
                <a:lnTo>
                  <a:pt x="0" y="32759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A3E36"/>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1675375" cy="1439899"/>
            <a:chOff x="0" y="0"/>
            <a:chExt cx="3074996" cy="379233"/>
          </a:xfrm>
        </p:grpSpPr>
        <p:sp>
          <p:nvSpPr>
            <p:cNvPr name="Freeform 3" id="3"/>
            <p:cNvSpPr/>
            <p:nvPr/>
          </p:nvSpPr>
          <p:spPr>
            <a:xfrm flipH="false" flipV="false" rot="0">
              <a:off x="0" y="0"/>
              <a:ext cx="3074996" cy="379233"/>
            </a:xfrm>
            <a:custGeom>
              <a:avLst/>
              <a:gdLst/>
              <a:ahLst/>
              <a:cxnLst/>
              <a:rect r="r" b="b" t="t" l="l"/>
              <a:pathLst>
                <a:path h="379233" w="3074996">
                  <a:moveTo>
                    <a:pt x="33818" y="0"/>
                  </a:moveTo>
                  <a:lnTo>
                    <a:pt x="3041178" y="0"/>
                  </a:lnTo>
                  <a:cubicBezTo>
                    <a:pt x="3050147" y="0"/>
                    <a:pt x="3058749" y="3563"/>
                    <a:pt x="3065091" y="9905"/>
                  </a:cubicBezTo>
                  <a:cubicBezTo>
                    <a:pt x="3071433" y="16247"/>
                    <a:pt x="3074996" y="24849"/>
                    <a:pt x="3074996" y="33818"/>
                  </a:cubicBezTo>
                  <a:lnTo>
                    <a:pt x="3074996" y="345415"/>
                  </a:lnTo>
                  <a:cubicBezTo>
                    <a:pt x="3074996" y="364092"/>
                    <a:pt x="3059855" y="379233"/>
                    <a:pt x="3041178" y="379233"/>
                  </a:cubicBezTo>
                  <a:lnTo>
                    <a:pt x="33818" y="379233"/>
                  </a:lnTo>
                  <a:cubicBezTo>
                    <a:pt x="24849" y="379233"/>
                    <a:pt x="16247" y="375670"/>
                    <a:pt x="9905" y="369328"/>
                  </a:cubicBezTo>
                  <a:cubicBezTo>
                    <a:pt x="3563" y="362985"/>
                    <a:pt x="0" y="354384"/>
                    <a:pt x="0" y="345415"/>
                  </a:cubicBezTo>
                  <a:lnTo>
                    <a:pt x="0" y="33818"/>
                  </a:lnTo>
                  <a:cubicBezTo>
                    <a:pt x="0" y="15141"/>
                    <a:pt x="15141" y="0"/>
                    <a:pt x="33818" y="0"/>
                  </a:cubicBezTo>
                  <a:close/>
                </a:path>
              </a:pathLst>
            </a:custGeom>
            <a:solidFill>
              <a:srgbClr val="7B5A33"/>
            </a:solidFill>
          </p:spPr>
        </p:sp>
        <p:sp>
          <p:nvSpPr>
            <p:cNvPr name="TextBox 4" id="4"/>
            <p:cNvSpPr txBox="true"/>
            <p:nvPr/>
          </p:nvSpPr>
          <p:spPr>
            <a:xfrm>
              <a:off x="0" y="-57150"/>
              <a:ext cx="3074996" cy="436383"/>
            </a:xfrm>
            <a:prstGeom prst="rect">
              <a:avLst/>
            </a:prstGeom>
          </p:spPr>
          <p:txBody>
            <a:bodyPr anchor="ctr" rtlCol="false" tIns="50800" lIns="50800" bIns="50800" rIns="50800"/>
            <a:lstStyle/>
            <a:p>
              <a:pPr algn="ctr">
                <a:lnSpc>
                  <a:spcPts val="3150"/>
                </a:lnSpc>
              </a:pPr>
            </a:p>
          </p:txBody>
        </p:sp>
      </p:grpSp>
      <p:sp>
        <p:nvSpPr>
          <p:cNvPr name="TextBox 5" id="5"/>
          <p:cNvSpPr txBox="true"/>
          <p:nvPr/>
        </p:nvSpPr>
        <p:spPr>
          <a:xfrm rot="0">
            <a:off x="1595718" y="1334879"/>
            <a:ext cx="8200306" cy="899160"/>
          </a:xfrm>
          <a:prstGeom prst="rect">
            <a:avLst/>
          </a:prstGeom>
        </p:spPr>
        <p:txBody>
          <a:bodyPr anchor="t" rtlCol="false" tIns="0" lIns="0" bIns="0" rIns="0">
            <a:spAutoFit/>
          </a:bodyPr>
          <a:lstStyle/>
          <a:p>
            <a:pPr algn="ctr" marL="0" indent="0" lvl="0">
              <a:lnSpc>
                <a:spcPts val="6930"/>
              </a:lnSpc>
              <a:spcBef>
                <a:spcPct val="0"/>
              </a:spcBef>
            </a:pPr>
            <a:r>
              <a:rPr lang="en-US" sz="6300" spc="-283">
                <a:solidFill>
                  <a:srgbClr val="FFFFFF"/>
                </a:solidFill>
                <a:latin typeface="Gagalin"/>
                <a:ea typeface="Gagalin"/>
                <a:cs typeface="Gagalin"/>
                <a:sym typeface="Gagalin"/>
              </a:rPr>
              <a:t>range Example</a:t>
            </a:r>
          </a:p>
        </p:txBody>
      </p:sp>
      <p:sp>
        <p:nvSpPr>
          <p:cNvPr name="TextBox 6" id="6"/>
          <p:cNvSpPr txBox="true"/>
          <p:nvPr/>
        </p:nvSpPr>
        <p:spPr>
          <a:xfrm rot="0">
            <a:off x="1752768" y="2768495"/>
            <a:ext cx="7548282" cy="639445"/>
          </a:xfrm>
          <a:prstGeom prst="rect">
            <a:avLst/>
          </a:prstGeom>
        </p:spPr>
        <p:txBody>
          <a:bodyPr anchor="t" rtlCol="false" tIns="0" lIns="0" bIns="0" rIns="0">
            <a:spAutoFit/>
          </a:bodyPr>
          <a:lstStyle/>
          <a:p>
            <a:pPr algn="l" marL="798826" indent="-399413" lvl="1">
              <a:lnSpc>
                <a:spcPts val="5179"/>
              </a:lnSpc>
              <a:buFont typeface="Arial"/>
              <a:buChar char="•"/>
            </a:pPr>
            <a:r>
              <a:rPr lang="en-US" sz="3699" spc="-170">
                <a:solidFill>
                  <a:srgbClr val="FFFFFF"/>
                </a:solidFill>
                <a:latin typeface="Comic Sans"/>
                <a:ea typeface="Comic Sans"/>
                <a:cs typeface="Comic Sans"/>
                <a:sym typeface="Comic Sans"/>
              </a:rPr>
              <a:t>Monarchs</a:t>
            </a:r>
          </a:p>
        </p:txBody>
      </p:sp>
      <p:grpSp>
        <p:nvGrpSpPr>
          <p:cNvPr name="Group 7" id="7"/>
          <p:cNvGrpSpPr>
            <a:grpSpLocks noChangeAspect="true"/>
          </p:cNvGrpSpPr>
          <p:nvPr/>
        </p:nvGrpSpPr>
        <p:grpSpPr>
          <a:xfrm rot="0">
            <a:off x="8921763" y="674174"/>
            <a:ext cx="8973705" cy="8938652"/>
            <a:chOff x="0" y="0"/>
            <a:chExt cx="6502400" cy="6477000"/>
          </a:xfrm>
        </p:grpSpPr>
        <p:sp>
          <p:nvSpPr>
            <p:cNvPr name="Freeform 8" id="8"/>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2"/>
              <a:stretch>
                <a:fillRect l="-38201" t="0" r="-38201" b="0"/>
              </a:stretch>
            </a:blipFill>
          </p:spPr>
        </p:sp>
        <p:sp>
          <p:nvSpPr>
            <p:cNvPr name="Freeform 9" id="9"/>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7B5A33"/>
            </a:solidFill>
          </p:spPr>
        </p:sp>
      </p:grpSp>
      <p:sp>
        <p:nvSpPr>
          <p:cNvPr name="Freeform 10" id="10"/>
          <p:cNvSpPr/>
          <p:nvPr/>
        </p:nvSpPr>
        <p:spPr>
          <a:xfrm flipH="false" flipV="false" rot="-10528504">
            <a:off x="-575089" y="7822328"/>
            <a:ext cx="4655714" cy="3275930"/>
          </a:xfrm>
          <a:custGeom>
            <a:avLst/>
            <a:gdLst/>
            <a:ahLst/>
            <a:cxnLst/>
            <a:rect r="r" b="b" t="t" l="l"/>
            <a:pathLst>
              <a:path h="3275930" w="4655714">
                <a:moveTo>
                  <a:pt x="0" y="0"/>
                </a:moveTo>
                <a:lnTo>
                  <a:pt x="4655714" y="0"/>
                </a:lnTo>
                <a:lnTo>
                  <a:pt x="4655714" y="3275930"/>
                </a:lnTo>
                <a:lnTo>
                  <a:pt x="0" y="32759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6485900">
            <a:off x="5648087" y="7974861"/>
            <a:ext cx="4655714" cy="3275930"/>
          </a:xfrm>
          <a:custGeom>
            <a:avLst/>
            <a:gdLst/>
            <a:ahLst/>
            <a:cxnLst/>
            <a:rect r="r" b="b" t="t" l="l"/>
            <a:pathLst>
              <a:path h="3275930" w="4655714">
                <a:moveTo>
                  <a:pt x="0" y="0"/>
                </a:moveTo>
                <a:lnTo>
                  <a:pt x="4655715" y="0"/>
                </a:lnTo>
                <a:lnTo>
                  <a:pt x="4655715" y="3275930"/>
                </a:lnTo>
                <a:lnTo>
                  <a:pt x="0" y="32759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59152" y="4018597"/>
            <a:ext cx="8654105" cy="5609434"/>
          </a:xfrm>
          <a:custGeom>
            <a:avLst/>
            <a:gdLst/>
            <a:ahLst/>
            <a:cxnLst/>
            <a:rect r="r" b="b" t="t" l="l"/>
            <a:pathLst>
              <a:path h="5609434" w="8654105">
                <a:moveTo>
                  <a:pt x="0" y="0"/>
                </a:moveTo>
                <a:lnTo>
                  <a:pt x="8654105" y="0"/>
                </a:lnTo>
                <a:lnTo>
                  <a:pt x="8654105" y="5609434"/>
                </a:lnTo>
                <a:lnTo>
                  <a:pt x="0" y="5609434"/>
                </a:lnTo>
                <a:lnTo>
                  <a:pt x="0" y="0"/>
                </a:lnTo>
                <a:close/>
              </a:path>
            </a:pathLst>
          </a:custGeom>
          <a:blipFill>
            <a:blip r:embed="rId5"/>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A3E36"/>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1675375" cy="1439899"/>
            <a:chOff x="0" y="0"/>
            <a:chExt cx="3074996" cy="379233"/>
          </a:xfrm>
        </p:grpSpPr>
        <p:sp>
          <p:nvSpPr>
            <p:cNvPr name="Freeform 3" id="3"/>
            <p:cNvSpPr/>
            <p:nvPr/>
          </p:nvSpPr>
          <p:spPr>
            <a:xfrm flipH="false" flipV="false" rot="0">
              <a:off x="0" y="0"/>
              <a:ext cx="3074996" cy="379233"/>
            </a:xfrm>
            <a:custGeom>
              <a:avLst/>
              <a:gdLst/>
              <a:ahLst/>
              <a:cxnLst/>
              <a:rect r="r" b="b" t="t" l="l"/>
              <a:pathLst>
                <a:path h="379233" w="3074996">
                  <a:moveTo>
                    <a:pt x="33818" y="0"/>
                  </a:moveTo>
                  <a:lnTo>
                    <a:pt x="3041178" y="0"/>
                  </a:lnTo>
                  <a:cubicBezTo>
                    <a:pt x="3050147" y="0"/>
                    <a:pt x="3058749" y="3563"/>
                    <a:pt x="3065091" y="9905"/>
                  </a:cubicBezTo>
                  <a:cubicBezTo>
                    <a:pt x="3071433" y="16247"/>
                    <a:pt x="3074996" y="24849"/>
                    <a:pt x="3074996" y="33818"/>
                  </a:cubicBezTo>
                  <a:lnTo>
                    <a:pt x="3074996" y="345415"/>
                  </a:lnTo>
                  <a:cubicBezTo>
                    <a:pt x="3074996" y="364092"/>
                    <a:pt x="3059855" y="379233"/>
                    <a:pt x="3041178" y="379233"/>
                  </a:cubicBezTo>
                  <a:lnTo>
                    <a:pt x="33818" y="379233"/>
                  </a:lnTo>
                  <a:cubicBezTo>
                    <a:pt x="24849" y="379233"/>
                    <a:pt x="16247" y="375670"/>
                    <a:pt x="9905" y="369328"/>
                  </a:cubicBezTo>
                  <a:cubicBezTo>
                    <a:pt x="3563" y="362985"/>
                    <a:pt x="0" y="354384"/>
                    <a:pt x="0" y="345415"/>
                  </a:cubicBezTo>
                  <a:lnTo>
                    <a:pt x="0" y="33818"/>
                  </a:lnTo>
                  <a:cubicBezTo>
                    <a:pt x="0" y="15141"/>
                    <a:pt x="15141" y="0"/>
                    <a:pt x="33818" y="0"/>
                  </a:cubicBezTo>
                  <a:close/>
                </a:path>
              </a:pathLst>
            </a:custGeom>
            <a:solidFill>
              <a:srgbClr val="7B5A33"/>
            </a:solidFill>
          </p:spPr>
        </p:sp>
        <p:sp>
          <p:nvSpPr>
            <p:cNvPr name="TextBox 4" id="4"/>
            <p:cNvSpPr txBox="true"/>
            <p:nvPr/>
          </p:nvSpPr>
          <p:spPr>
            <a:xfrm>
              <a:off x="0" y="-57150"/>
              <a:ext cx="3074996" cy="436383"/>
            </a:xfrm>
            <a:prstGeom prst="rect">
              <a:avLst/>
            </a:prstGeom>
          </p:spPr>
          <p:txBody>
            <a:bodyPr anchor="ctr" rtlCol="false" tIns="50800" lIns="50800" bIns="50800" rIns="50800"/>
            <a:lstStyle/>
            <a:p>
              <a:pPr algn="ctr">
                <a:lnSpc>
                  <a:spcPts val="3150"/>
                </a:lnSpc>
              </a:pPr>
            </a:p>
          </p:txBody>
        </p:sp>
      </p:grpSp>
      <p:sp>
        <p:nvSpPr>
          <p:cNvPr name="TextBox 5" id="5"/>
          <p:cNvSpPr txBox="true"/>
          <p:nvPr/>
        </p:nvSpPr>
        <p:spPr>
          <a:xfrm rot="0">
            <a:off x="1595718" y="1334879"/>
            <a:ext cx="8200306" cy="899160"/>
          </a:xfrm>
          <a:prstGeom prst="rect">
            <a:avLst/>
          </a:prstGeom>
        </p:spPr>
        <p:txBody>
          <a:bodyPr anchor="t" rtlCol="false" tIns="0" lIns="0" bIns="0" rIns="0">
            <a:spAutoFit/>
          </a:bodyPr>
          <a:lstStyle/>
          <a:p>
            <a:pPr algn="ctr" marL="0" indent="0" lvl="0">
              <a:lnSpc>
                <a:spcPts val="6930"/>
              </a:lnSpc>
              <a:spcBef>
                <a:spcPct val="0"/>
              </a:spcBef>
            </a:pPr>
            <a:r>
              <a:rPr lang="en-US" sz="6300" spc="-283">
                <a:solidFill>
                  <a:srgbClr val="FFFFFF"/>
                </a:solidFill>
                <a:latin typeface="Gagalin"/>
                <a:ea typeface="Gagalin"/>
                <a:cs typeface="Gagalin"/>
                <a:sym typeface="Gagalin"/>
              </a:rPr>
              <a:t>range Example</a:t>
            </a:r>
          </a:p>
        </p:txBody>
      </p:sp>
      <p:grpSp>
        <p:nvGrpSpPr>
          <p:cNvPr name="Group 6" id="6"/>
          <p:cNvGrpSpPr>
            <a:grpSpLocks noChangeAspect="true"/>
          </p:cNvGrpSpPr>
          <p:nvPr/>
        </p:nvGrpSpPr>
        <p:grpSpPr>
          <a:xfrm rot="0">
            <a:off x="8921763" y="674174"/>
            <a:ext cx="8973705" cy="8938652"/>
            <a:chOff x="0" y="0"/>
            <a:chExt cx="6502400" cy="6477000"/>
          </a:xfrm>
        </p:grpSpPr>
        <p:sp>
          <p:nvSpPr>
            <p:cNvPr name="Freeform 7" id="7"/>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2"/>
              <a:stretch>
                <a:fillRect l="-12221" t="0" r="-12221" b="0"/>
              </a:stretch>
            </a:blipFill>
          </p:spPr>
        </p:sp>
        <p:sp>
          <p:nvSpPr>
            <p:cNvPr name="Freeform 8" id="8"/>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7B5A33"/>
            </a:solidFill>
          </p:spPr>
        </p:sp>
      </p:grpSp>
      <p:sp>
        <p:nvSpPr>
          <p:cNvPr name="Freeform 9" id="9"/>
          <p:cNvSpPr/>
          <p:nvPr/>
        </p:nvSpPr>
        <p:spPr>
          <a:xfrm flipH="false" flipV="false" rot="-10528504">
            <a:off x="-575089" y="7822328"/>
            <a:ext cx="4655714" cy="3275930"/>
          </a:xfrm>
          <a:custGeom>
            <a:avLst/>
            <a:gdLst/>
            <a:ahLst/>
            <a:cxnLst/>
            <a:rect r="r" b="b" t="t" l="l"/>
            <a:pathLst>
              <a:path h="3275930" w="4655714">
                <a:moveTo>
                  <a:pt x="0" y="0"/>
                </a:moveTo>
                <a:lnTo>
                  <a:pt x="4655714" y="0"/>
                </a:lnTo>
                <a:lnTo>
                  <a:pt x="4655714" y="3275930"/>
                </a:lnTo>
                <a:lnTo>
                  <a:pt x="0" y="32759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6485900">
            <a:off x="5648087" y="7974861"/>
            <a:ext cx="4655714" cy="3275930"/>
          </a:xfrm>
          <a:custGeom>
            <a:avLst/>
            <a:gdLst/>
            <a:ahLst/>
            <a:cxnLst/>
            <a:rect r="r" b="b" t="t" l="l"/>
            <a:pathLst>
              <a:path h="3275930" w="4655714">
                <a:moveTo>
                  <a:pt x="0" y="0"/>
                </a:moveTo>
                <a:lnTo>
                  <a:pt x="4655715" y="0"/>
                </a:lnTo>
                <a:lnTo>
                  <a:pt x="4655715" y="3275930"/>
                </a:lnTo>
                <a:lnTo>
                  <a:pt x="0" y="32759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595718" y="2468599"/>
            <a:ext cx="6515334" cy="7818401"/>
          </a:xfrm>
          <a:custGeom>
            <a:avLst/>
            <a:gdLst/>
            <a:ahLst/>
            <a:cxnLst/>
            <a:rect r="r" b="b" t="t" l="l"/>
            <a:pathLst>
              <a:path h="7818401" w="6515334">
                <a:moveTo>
                  <a:pt x="0" y="0"/>
                </a:moveTo>
                <a:lnTo>
                  <a:pt x="6515335" y="0"/>
                </a:lnTo>
                <a:lnTo>
                  <a:pt x="6515335" y="7818401"/>
                </a:lnTo>
                <a:lnTo>
                  <a:pt x="0" y="7818401"/>
                </a:lnTo>
                <a:lnTo>
                  <a:pt x="0" y="0"/>
                </a:lnTo>
                <a:close/>
              </a:path>
            </a:pathLst>
          </a:custGeom>
          <a:blipFill>
            <a:blip r:embed="rId5"/>
            <a:stretch>
              <a:fillRect l="0" t="0" r="0" b="0"/>
            </a:stretch>
          </a:blipFill>
        </p:spPr>
      </p:sp>
      <p:sp>
        <p:nvSpPr>
          <p:cNvPr name="Freeform 12" id="12"/>
          <p:cNvSpPr/>
          <p:nvPr/>
        </p:nvSpPr>
        <p:spPr>
          <a:xfrm flipH="false" flipV="false" rot="0">
            <a:off x="1752768" y="8506441"/>
            <a:ext cx="4063409" cy="953852"/>
          </a:xfrm>
          <a:custGeom>
            <a:avLst/>
            <a:gdLst/>
            <a:ahLst/>
            <a:cxnLst/>
            <a:rect r="r" b="b" t="t" l="l"/>
            <a:pathLst>
              <a:path h="953852" w="4063409">
                <a:moveTo>
                  <a:pt x="0" y="0"/>
                </a:moveTo>
                <a:lnTo>
                  <a:pt x="4063409" y="0"/>
                </a:lnTo>
                <a:lnTo>
                  <a:pt x="4063409" y="953852"/>
                </a:lnTo>
                <a:lnTo>
                  <a:pt x="0" y="953852"/>
                </a:lnTo>
                <a:lnTo>
                  <a:pt x="0" y="0"/>
                </a:lnTo>
                <a:close/>
              </a:path>
            </a:pathLst>
          </a:custGeom>
          <a:blipFill>
            <a:blip r:embed="rId6"/>
            <a:stretch>
              <a:fillRect l="0" t="0" r="0" b="0"/>
            </a:stretch>
          </a:blipFill>
        </p:spPr>
      </p:sp>
      <p:sp>
        <p:nvSpPr>
          <p:cNvPr name="TextBox 13" id="13"/>
          <p:cNvSpPr txBox="true"/>
          <p:nvPr/>
        </p:nvSpPr>
        <p:spPr>
          <a:xfrm rot="0">
            <a:off x="9507806" y="34729"/>
            <a:ext cx="7548282" cy="639445"/>
          </a:xfrm>
          <a:prstGeom prst="rect">
            <a:avLst/>
          </a:prstGeom>
        </p:spPr>
        <p:txBody>
          <a:bodyPr anchor="t" rtlCol="false" tIns="0" lIns="0" bIns="0" rIns="0">
            <a:spAutoFit/>
          </a:bodyPr>
          <a:lstStyle/>
          <a:p>
            <a:pPr algn="ctr">
              <a:lnSpc>
                <a:spcPts val="5179"/>
              </a:lnSpc>
            </a:pPr>
            <a:r>
              <a:rPr lang="en-US" sz="3699" spc="-170">
                <a:solidFill>
                  <a:srgbClr val="FFFFFF"/>
                </a:solidFill>
                <a:latin typeface="Comic Sans"/>
                <a:ea typeface="Comic Sans"/>
                <a:cs typeface="Comic Sans"/>
                <a:sym typeface="Comic Sans"/>
              </a:rPr>
              <a:t>Painted Bunting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A3E36"/>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1512783" cy="1543050"/>
            <a:chOff x="0" y="0"/>
            <a:chExt cx="3032173" cy="406400"/>
          </a:xfrm>
        </p:grpSpPr>
        <p:sp>
          <p:nvSpPr>
            <p:cNvPr name="Freeform 3" id="3"/>
            <p:cNvSpPr/>
            <p:nvPr/>
          </p:nvSpPr>
          <p:spPr>
            <a:xfrm flipH="false" flipV="false" rot="0">
              <a:off x="0" y="0"/>
              <a:ext cx="3032173" cy="406400"/>
            </a:xfrm>
            <a:custGeom>
              <a:avLst/>
              <a:gdLst/>
              <a:ahLst/>
              <a:cxnLst/>
              <a:rect r="r" b="b" t="t" l="l"/>
              <a:pathLst>
                <a:path h="406400" w="3032173">
                  <a:moveTo>
                    <a:pt x="34296" y="0"/>
                  </a:moveTo>
                  <a:lnTo>
                    <a:pt x="2997878" y="0"/>
                  </a:lnTo>
                  <a:cubicBezTo>
                    <a:pt x="3006973" y="0"/>
                    <a:pt x="3015697" y="3613"/>
                    <a:pt x="3022128" y="10045"/>
                  </a:cubicBezTo>
                  <a:cubicBezTo>
                    <a:pt x="3028560" y="16477"/>
                    <a:pt x="3032173" y="25200"/>
                    <a:pt x="3032173" y="34296"/>
                  </a:cubicBezTo>
                  <a:lnTo>
                    <a:pt x="3032173" y="372104"/>
                  </a:lnTo>
                  <a:cubicBezTo>
                    <a:pt x="3032173" y="381200"/>
                    <a:pt x="3028560" y="389923"/>
                    <a:pt x="3022128" y="396355"/>
                  </a:cubicBezTo>
                  <a:cubicBezTo>
                    <a:pt x="3015697" y="402787"/>
                    <a:pt x="3006973" y="406400"/>
                    <a:pt x="2997878" y="406400"/>
                  </a:cubicBezTo>
                  <a:lnTo>
                    <a:pt x="34296" y="406400"/>
                  </a:lnTo>
                  <a:cubicBezTo>
                    <a:pt x="25200" y="406400"/>
                    <a:pt x="16477" y="402787"/>
                    <a:pt x="10045" y="396355"/>
                  </a:cubicBezTo>
                  <a:cubicBezTo>
                    <a:pt x="3613" y="389923"/>
                    <a:pt x="0" y="381200"/>
                    <a:pt x="0" y="372104"/>
                  </a:cubicBezTo>
                  <a:lnTo>
                    <a:pt x="0" y="34296"/>
                  </a:lnTo>
                  <a:cubicBezTo>
                    <a:pt x="0" y="25200"/>
                    <a:pt x="3613" y="16477"/>
                    <a:pt x="10045" y="10045"/>
                  </a:cubicBezTo>
                  <a:cubicBezTo>
                    <a:pt x="16477" y="3613"/>
                    <a:pt x="25200" y="0"/>
                    <a:pt x="34296" y="0"/>
                  </a:cubicBezTo>
                  <a:close/>
                </a:path>
              </a:pathLst>
            </a:custGeom>
            <a:solidFill>
              <a:srgbClr val="7B5A33"/>
            </a:solidFill>
          </p:spPr>
        </p:sp>
        <p:sp>
          <p:nvSpPr>
            <p:cNvPr name="TextBox 4" id="4"/>
            <p:cNvSpPr txBox="true"/>
            <p:nvPr/>
          </p:nvSpPr>
          <p:spPr>
            <a:xfrm>
              <a:off x="0" y="-57150"/>
              <a:ext cx="3032173" cy="463550"/>
            </a:xfrm>
            <a:prstGeom prst="rect">
              <a:avLst/>
            </a:prstGeom>
          </p:spPr>
          <p:txBody>
            <a:bodyPr anchor="ctr" rtlCol="false" tIns="50800" lIns="50800" bIns="50800" rIns="50800"/>
            <a:lstStyle/>
            <a:p>
              <a:pPr algn="ctr">
                <a:lnSpc>
                  <a:spcPts val="3150"/>
                </a:lnSpc>
              </a:pPr>
            </a:p>
          </p:txBody>
        </p:sp>
      </p:grpSp>
      <p:sp>
        <p:nvSpPr>
          <p:cNvPr name="TextBox 5" id="5"/>
          <p:cNvSpPr txBox="true"/>
          <p:nvPr/>
        </p:nvSpPr>
        <p:spPr>
          <a:xfrm rot="0">
            <a:off x="1328560" y="1323975"/>
            <a:ext cx="8439822" cy="952500"/>
          </a:xfrm>
          <a:prstGeom prst="rect">
            <a:avLst/>
          </a:prstGeom>
        </p:spPr>
        <p:txBody>
          <a:bodyPr anchor="t" rtlCol="false" tIns="0" lIns="0" bIns="0" rIns="0">
            <a:spAutoFit/>
          </a:bodyPr>
          <a:lstStyle/>
          <a:p>
            <a:pPr algn="l" marL="0" indent="0" lvl="0">
              <a:lnSpc>
                <a:spcPts val="7559"/>
              </a:lnSpc>
            </a:pPr>
            <a:r>
              <a:rPr lang="en-US" sz="6300">
                <a:solidFill>
                  <a:srgbClr val="FFFFFF"/>
                </a:solidFill>
                <a:latin typeface="Gagalin"/>
                <a:ea typeface="Gagalin"/>
                <a:cs typeface="Gagalin"/>
                <a:sym typeface="Gagalin"/>
              </a:rPr>
              <a:t>Conservation </a:t>
            </a:r>
          </a:p>
        </p:txBody>
      </p:sp>
      <p:sp>
        <p:nvSpPr>
          <p:cNvPr name="TextBox 6" id="6"/>
          <p:cNvSpPr txBox="true"/>
          <p:nvPr/>
        </p:nvSpPr>
        <p:spPr>
          <a:xfrm rot="0">
            <a:off x="1328560" y="3052509"/>
            <a:ext cx="7593202" cy="6149341"/>
          </a:xfrm>
          <a:prstGeom prst="rect">
            <a:avLst/>
          </a:prstGeom>
        </p:spPr>
        <p:txBody>
          <a:bodyPr anchor="t" rtlCol="false" tIns="0" lIns="0" bIns="0" rIns="0">
            <a:spAutoFit/>
          </a:bodyPr>
          <a:lstStyle/>
          <a:p>
            <a:pPr algn="l" marL="0" indent="0" lvl="0">
              <a:lnSpc>
                <a:spcPts val="5459"/>
              </a:lnSpc>
              <a:spcBef>
                <a:spcPct val="0"/>
              </a:spcBef>
            </a:pPr>
            <a:r>
              <a:rPr lang="en-US" sz="3899">
                <a:solidFill>
                  <a:srgbClr val="FFFFFF"/>
                </a:solidFill>
                <a:latin typeface="Comic Sans"/>
                <a:ea typeface="Comic Sans"/>
                <a:cs typeface="Comic Sans"/>
                <a:sym typeface="Comic Sans"/>
              </a:rPr>
              <a:t>Studying animal migration can help us better understand the natural world and inform conservation efforts to protect vulnerable species.Wildlife reserves and protected areas can provide safe havens for migrating animals to rest and feed along their journey.</a:t>
            </a:r>
          </a:p>
        </p:txBody>
      </p:sp>
      <p:sp>
        <p:nvSpPr>
          <p:cNvPr name="Freeform 7" id="7"/>
          <p:cNvSpPr/>
          <p:nvPr/>
        </p:nvSpPr>
        <p:spPr>
          <a:xfrm flipH="true" flipV="false" rot="7855629">
            <a:off x="2467277" y="6345427"/>
            <a:ext cx="8073741" cy="7413162"/>
          </a:xfrm>
          <a:custGeom>
            <a:avLst/>
            <a:gdLst/>
            <a:ahLst/>
            <a:cxnLst/>
            <a:rect r="r" b="b" t="t" l="l"/>
            <a:pathLst>
              <a:path h="7413162" w="8073741">
                <a:moveTo>
                  <a:pt x="8073741" y="0"/>
                </a:moveTo>
                <a:lnTo>
                  <a:pt x="0" y="0"/>
                </a:lnTo>
                <a:lnTo>
                  <a:pt x="0" y="7413163"/>
                </a:lnTo>
                <a:lnTo>
                  <a:pt x="8073741" y="7413163"/>
                </a:lnTo>
                <a:lnTo>
                  <a:pt x="8073741"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a:grpSpLocks noChangeAspect="true"/>
          </p:cNvGrpSpPr>
          <p:nvPr/>
        </p:nvGrpSpPr>
        <p:grpSpPr>
          <a:xfrm rot="0">
            <a:off x="8921763" y="674174"/>
            <a:ext cx="8973705" cy="8938652"/>
            <a:chOff x="0" y="0"/>
            <a:chExt cx="6502400" cy="6477000"/>
          </a:xfrm>
        </p:grpSpPr>
        <p:sp>
          <p:nvSpPr>
            <p:cNvPr name="Freeform 9" id="9"/>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4"/>
              <a:stretch>
                <a:fillRect l="-24712" t="0" r="-24712" b="0"/>
              </a:stretch>
            </a:blipFill>
          </p:spPr>
        </p:sp>
        <p:sp>
          <p:nvSpPr>
            <p:cNvPr name="Freeform 10" id="10"/>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7B5A33"/>
            </a:solid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A3E36"/>
        </a:solidFill>
      </p:bgPr>
    </p:bg>
    <p:spTree>
      <p:nvGrpSpPr>
        <p:cNvPr id="1" name=""/>
        <p:cNvGrpSpPr/>
        <p:nvPr/>
      </p:nvGrpSpPr>
      <p:grpSpPr>
        <a:xfrm>
          <a:off x="0" y="0"/>
          <a:ext cx="0" cy="0"/>
          <a:chOff x="0" y="0"/>
          <a:chExt cx="0" cy="0"/>
        </a:xfrm>
      </p:grpSpPr>
      <p:grpSp>
        <p:nvGrpSpPr>
          <p:cNvPr name="Group 2" id="2"/>
          <p:cNvGrpSpPr/>
          <p:nvPr/>
        </p:nvGrpSpPr>
        <p:grpSpPr>
          <a:xfrm rot="0">
            <a:off x="6504147" y="1028700"/>
            <a:ext cx="11512783" cy="1543050"/>
            <a:chOff x="0" y="0"/>
            <a:chExt cx="3032173" cy="406400"/>
          </a:xfrm>
        </p:grpSpPr>
        <p:sp>
          <p:nvSpPr>
            <p:cNvPr name="Freeform 3" id="3"/>
            <p:cNvSpPr/>
            <p:nvPr/>
          </p:nvSpPr>
          <p:spPr>
            <a:xfrm flipH="false" flipV="false" rot="0">
              <a:off x="0" y="0"/>
              <a:ext cx="3032173" cy="406400"/>
            </a:xfrm>
            <a:custGeom>
              <a:avLst/>
              <a:gdLst/>
              <a:ahLst/>
              <a:cxnLst/>
              <a:rect r="r" b="b" t="t" l="l"/>
              <a:pathLst>
                <a:path h="406400" w="3032173">
                  <a:moveTo>
                    <a:pt x="34296" y="0"/>
                  </a:moveTo>
                  <a:lnTo>
                    <a:pt x="2997878" y="0"/>
                  </a:lnTo>
                  <a:cubicBezTo>
                    <a:pt x="3006973" y="0"/>
                    <a:pt x="3015697" y="3613"/>
                    <a:pt x="3022128" y="10045"/>
                  </a:cubicBezTo>
                  <a:cubicBezTo>
                    <a:pt x="3028560" y="16477"/>
                    <a:pt x="3032173" y="25200"/>
                    <a:pt x="3032173" y="34296"/>
                  </a:cubicBezTo>
                  <a:lnTo>
                    <a:pt x="3032173" y="372104"/>
                  </a:lnTo>
                  <a:cubicBezTo>
                    <a:pt x="3032173" y="381200"/>
                    <a:pt x="3028560" y="389923"/>
                    <a:pt x="3022128" y="396355"/>
                  </a:cubicBezTo>
                  <a:cubicBezTo>
                    <a:pt x="3015697" y="402787"/>
                    <a:pt x="3006973" y="406400"/>
                    <a:pt x="2997878" y="406400"/>
                  </a:cubicBezTo>
                  <a:lnTo>
                    <a:pt x="34296" y="406400"/>
                  </a:lnTo>
                  <a:cubicBezTo>
                    <a:pt x="25200" y="406400"/>
                    <a:pt x="16477" y="402787"/>
                    <a:pt x="10045" y="396355"/>
                  </a:cubicBezTo>
                  <a:cubicBezTo>
                    <a:pt x="3613" y="389923"/>
                    <a:pt x="0" y="381200"/>
                    <a:pt x="0" y="372104"/>
                  </a:cubicBezTo>
                  <a:lnTo>
                    <a:pt x="0" y="34296"/>
                  </a:lnTo>
                  <a:cubicBezTo>
                    <a:pt x="0" y="25200"/>
                    <a:pt x="3613" y="16477"/>
                    <a:pt x="10045" y="10045"/>
                  </a:cubicBezTo>
                  <a:cubicBezTo>
                    <a:pt x="16477" y="3613"/>
                    <a:pt x="25200" y="0"/>
                    <a:pt x="34296" y="0"/>
                  </a:cubicBezTo>
                  <a:close/>
                </a:path>
              </a:pathLst>
            </a:custGeom>
            <a:solidFill>
              <a:srgbClr val="7B5A33"/>
            </a:solidFill>
          </p:spPr>
        </p:sp>
        <p:sp>
          <p:nvSpPr>
            <p:cNvPr name="TextBox 4" id="4"/>
            <p:cNvSpPr txBox="true"/>
            <p:nvPr/>
          </p:nvSpPr>
          <p:spPr>
            <a:xfrm>
              <a:off x="0" y="-57150"/>
              <a:ext cx="3032173" cy="463550"/>
            </a:xfrm>
            <a:prstGeom prst="rect">
              <a:avLst/>
            </a:prstGeom>
          </p:spPr>
          <p:txBody>
            <a:bodyPr anchor="ctr" rtlCol="false" tIns="50800" lIns="50800" bIns="50800" rIns="50800"/>
            <a:lstStyle/>
            <a:p>
              <a:pPr algn="ctr">
                <a:lnSpc>
                  <a:spcPts val="3150"/>
                </a:lnSpc>
              </a:pPr>
            </a:p>
          </p:txBody>
        </p:sp>
      </p:grpSp>
      <p:sp>
        <p:nvSpPr>
          <p:cNvPr name="TextBox 5" id="5"/>
          <p:cNvSpPr txBox="true"/>
          <p:nvPr/>
        </p:nvSpPr>
        <p:spPr>
          <a:xfrm rot="0">
            <a:off x="9577109" y="1233673"/>
            <a:ext cx="8439822" cy="952500"/>
          </a:xfrm>
          <a:prstGeom prst="rect">
            <a:avLst/>
          </a:prstGeom>
        </p:spPr>
        <p:txBody>
          <a:bodyPr anchor="t" rtlCol="false" tIns="0" lIns="0" bIns="0" rIns="0">
            <a:spAutoFit/>
          </a:bodyPr>
          <a:lstStyle/>
          <a:p>
            <a:pPr algn="l" marL="0" indent="0" lvl="0">
              <a:lnSpc>
                <a:spcPts val="7559"/>
              </a:lnSpc>
            </a:pPr>
            <a:r>
              <a:rPr lang="en-US" sz="6300">
                <a:solidFill>
                  <a:srgbClr val="FFFFFF"/>
                </a:solidFill>
                <a:latin typeface="Gagalin"/>
                <a:ea typeface="Gagalin"/>
                <a:cs typeface="Gagalin"/>
                <a:sym typeface="Gagalin"/>
              </a:rPr>
              <a:t>Conservation</a:t>
            </a:r>
          </a:p>
        </p:txBody>
      </p:sp>
      <p:sp>
        <p:nvSpPr>
          <p:cNvPr name="TextBox 6" id="6"/>
          <p:cNvSpPr txBox="true"/>
          <p:nvPr/>
        </p:nvSpPr>
        <p:spPr>
          <a:xfrm rot="0">
            <a:off x="9577109" y="3303905"/>
            <a:ext cx="7593202" cy="5495926"/>
          </a:xfrm>
          <a:prstGeom prst="rect">
            <a:avLst/>
          </a:prstGeom>
        </p:spPr>
        <p:txBody>
          <a:bodyPr anchor="t" rtlCol="false" tIns="0" lIns="0" bIns="0" rIns="0">
            <a:spAutoFit/>
          </a:bodyPr>
          <a:lstStyle/>
          <a:p>
            <a:pPr algn="l">
              <a:lnSpc>
                <a:spcPts val="6299"/>
              </a:lnSpc>
            </a:pPr>
            <a:r>
              <a:rPr lang="en-US" sz="4499" b="true">
                <a:solidFill>
                  <a:srgbClr val="FFFFFF"/>
                </a:solidFill>
                <a:latin typeface="Comic Sans Bold"/>
                <a:ea typeface="Comic Sans Bold"/>
                <a:cs typeface="Comic Sans Bold"/>
                <a:sym typeface="Comic Sans Bold"/>
              </a:rPr>
              <a:t>How does Motus help conserve species?</a:t>
            </a:r>
          </a:p>
          <a:p>
            <a:pPr algn="l">
              <a:lnSpc>
                <a:spcPts val="6299"/>
              </a:lnSpc>
            </a:pPr>
          </a:p>
          <a:p>
            <a:pPr algn="l">
              <a:lnSpc>
                <a:spcPts val="6299"/>
              </a:lnSpc>
            </a:pPr>
          </a:p>
          <a:p>
            <a:pPr algn="l">
              <a:lnSpc>
                <a:spcPts val="6299"/>
              </a:lnSpc>
            </a:pPr>
            <a:r>
              <a:rPr lang="en-US" sz="4499" b="true">
                <a:solidFill>
                  <a:srgbClr val="FFFFFF"/>
                </a:solidFill>
                <a:latin typeface="Comic Sans Bold"/>
                <a:ea typeface="Comic Sans Bold"/>
                <a:cs typeface="Comic Sans Bold"/>
                <a:sym typeface="Comic Sans Bold"/>
              </a:rPr>
              <a:t>How do NERRs help conserve bird species?</a:t>
            </a:r>
          </a:p>
          <a:p>
            <a:pPr algn="l" marL="0" indent="0" lvl="0">
              <a:lnSpc>
                <a:spcPts val="6299"/>
              </a:lnSpc>
              <a:spcBef>
                <a:spcPct val="0"/>
              </a:spcBef>
            </a:pPr>
          </a:p>
        </p:txBody>
      </p:sp>
      <p:sp>
        <p:nvSpPr>
          <p:cNvPr name="Freeform 7" id="7"/>
          <p:cNvSpPr/>
          <p:nvPr/>
        </p:nvSpPr>
        <p:spPr>
          <a:xfrm flipH="true" flipV="false" rot="7855629">
            <a:off x="2467277" y="6345427"/>
            <a:ext cx="8073741" cy="7413162"/>
          </a:xfrm>
          <a:custGeom>
            <a:avLst/>
            <a:gdLst/>
            <a:ahLst/>
            <a:cxnLst/>
            <a:rect r="r" b="b" t="t" l="l"/>
            <a:pathLst>
              <a:path h="7413162" w="8073741">
                <a:moveTo>
                  <a:pt x="8073741" y="0"/>
                </a:moveTo>
                <a:lnTo>
                  <a:pt x="0" y="0"/>
                </a:lnTo>
                <a:lnTo>
                  <a:pt x="0" y="7413163"/>
                </a:lnTo>
                <a:lnTo>
                  <a:pt x="8073741" y="7413163"/>
                </a:lnTo>
                <a:lnTo>
                  <a:pt x="8073741"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a:grpSpLocks noChangeAspect="true"/>
          </p:cNvGrpSpPr>
          <p:nvPr/>
        </p:nvGrpSpPr>
        <p:grpSpPr>
          <a:xfrm rot="0">
            <a:off x="0" y="674174"/>
            <a:ext cx="8973705" cy="8938652"/>
            <a:chOff x="0" y="0"/>
            <a:chExt cx="6502400" cy="6477000"/>
          </a:xfrm>
        </p:grpSpPr>
        <p:sp>
          <p:nvSpPr>
            <p:cNvPr name="Freeform 9" id="9"/>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4"/>
              <a:stretch>
                <a:fillRect l="-24712" t="0" r="-24712" b="0"/>
              </a:stretch>
            </a:blipFill>
          </p:spPr>
        </p:sp>
        <p:sp>
          <p:nvSpPr>
            <p:cNvPr name="Freeform 10" id="10"/>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7B5A33"/>
            </a:solid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A3E36"/>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1512783" cy="1543050"/>
            <a:chOff x="0" y="0"/>
            <a:chExt cx="3032173" cy="406400"/>
          </a:xfrm>
        </p:grpSpPr>
        <p:sp>
          <p:nvSpPr>
            <p:cNvPr name="Freeform 3" id="3"/>
            <p:cNvSpPr/>
            <p:nvPr/>
          </p:nvSpPr>
          <p:spPr>
            <a:xfrm flipH="false" flipV="false" rot="0">
              <a:off x="0" y="0"/>
              <a:ext cx="3032173" cy="406400"/>
            </a:xfrm>
            <a:custGeom>
              <a:avLst/>
              <a:gdLst/>
              <a:ahLst/>
              <a:cxnLst/>
              <a:rect r="r" b="b" t="t" l="l"/>
              <a:pathLst>
                <a:path h="406400" w="3032173">
                  <a:moveTo>
                    <a:pt x="34296" y="0"/>
                  </a:moveTo>
                  <a:lnTo>
                    <a:pt x="2997878" y="0"/>
                  </a:lnTo>
                  <a:cubicBezTo>
                    <a:pt x="3006973" y="0"/>
                    <a:pt x="3015697" y="3613"/>
                    <a:pt x="3022128" y="10045"/>
                  </a:cubicBezTo>
                  <a:cubicBezTo>
                    <a:pt x="3028560" y="16477"/>
                    <a:pt x="3032173" y="25200"/>
                    <a:pt x="3032173" y="34296"/>
                  </a:cubicBezTo>
                  <a:lnTo>
                    <a:pt x="3032173" y="372104"/>
                  </a:lnTo>
                  <a:cubicBezTo>
                    <a:pt x="3032173" y="381200"/>
                    <a:pt x="3028560" y="389923"/>
                    <a:pt x="3022128" y="396355"/>
                  </a:cubicBezTo>
                  <a:cubicBezTo>
                    <a:pt x="3015697" y="402787"/>
                    <a:pt x="3006973" y="406400"/>
                    <a:pt x="2997878" y="406400"/>
                  </a:cubicBezTo>
                  <a:lnTo>
                    <a:pt x="34296" y="406400"/>
                  </a:lnTo>
                  <a:cubicBezTo>
                    <a:pt x="25200" y="406400"/>
                    <a:pt x="16477" y="402787"/>
                    <a:pt x="10045" y="396355"/>
                  </a:cubicBezTo>
                  <a:cubicBezTo>
                    <a:pt x="3613" y="389923"/>
                    <a:pt x="0" y="381200"/>
                    <a:pt x="0" y="372104"/>
                  </a:cubicBezTo>
                  <a:lnTo>
                    <a:pt x="0" y="34296"/>
                  </a:lnTo>
                  <a:cubicBezTo>
                    <a:pt x="0" y="25200"/>
                    <a:pt x="3613" y="16477"/>
                    <a:pt x="10045" y="10045"/>
                  </a:cubicBezTo>
                  <a:cubicBezTo>
                    <a:pt x="16477" y="3613"/>
                    <a:pt x="25200" y="0"/>
                    <a:pt x="34296" y="0"/>
                  </a:cubicBezTo>
                  <a:close/>
                </a:path>
              </a:pathLst>
            </a:custGeom>
            <a:solidFill>
              <a:srgbClr val="7B5A33"/>
            </a:solidFill>
          </p:spPr>
        </p:sp>
        <p:sp>
          <p:nvSpPr>
            <p:cNvPr name="TextBox 4" id="4"/>
            <p:cNvSpPr txBox="true"/>
            <p:nvPr/>
          </p:nvSpPr>
          <p:spPr>
            <a:xfrm>
              <a:off x="0" y="-57150"/>
              <a:ext cx="3032173" cy="463550"/>
            </a:xfrm>
            <a:prstGeom prst="rect">
              <a:avLst/>
            </a:prstGeom>
          </p:spPr>
          <p:txBody>
            <a:bodyPr anchor="ctr" rtlCol="false" tIns="50800" lIns="50800" bIns="50800" rIns="50800"/>
            <a:lstStyle/>
            <a:p>
              <a:pPr algn="ctr">
                <a:lnSpc>
                  <a:spcPts val="3150"/>
                </a:lnSpc>
              </a:pPr>
            </a:p>
          </p:txBody>
        </p:sp>
      </p:grpSp>
      <p:sp>
        <p:nvSpPr>
          <p:cNvPr name="TextBox 5" id="5"/>
          <p:cNvSpPr txBox="true"/>
          <p:nvPr/>
        </p:nvSpPr>
        <p:spPr>
          <a:xfrm rot="0">
            <a:off x="1328560" y="1323975"/>
            <a:ext cx="8439822" cy="952500"/>
          </a:xfrm>
          <a:prstGeom prst="rect">
            <a:avLst/>
          </a:prstGeom>
        </p:spPr>
        <p:txBody>
          <a:bodyPr anchor="t" rtlCol="false" tIns="0" lIns="0" bIns="0" rIns="0">
            <a:spAutoFit/>
          </a:bodyPr>
          <a:lstStyle/>
          <a:p>
            <a:pPr algn="l" marL="0" indent="0" lvl="0">
              <a:lnSpc>
                <a:spcPts val="7559"/>
              </a:lnSpc>
            </a:pPr>
            <a:r>
              <a:rPr lang="en-US" sz="6300">
                <a:solidFill>
                  <a:srgbClr val="FFFFFF"/>
                </a:solidFill>
                <a:latin typeface="Gagalin"/>
                <a:ea typeface="Gagalin"/>
                <a:cs typeface="Gagalin"/>
                <a:sym typeface="Gagalin"/>
              </a:rPr>
              <a:t>Conservation </a:t>
            </a:r>
          </a:p>
        </p:txBody>
      </p:sp>
      <p:sp>
        <p:nvSpPr>
          <p:cNvPr name="Freeform 6" id="6"/>
          <p:cNvSpPr/>
          <p:nvPr/>
        </p:nvSpPr>
        <p:spPr>
          <a:xfrm flipH="true" flipV="false" rot="7855629">
            <a:off x="2467277" y="6345427"/>
            <a:ext cx="8073741" cy="7413162"/>
          </a:xfrm>
          <a:custGeom>
            <a:avLst/>
            <a:gdLst/>
            <a:ahLst/>
            <a:cxnLst/>
            <a:rect r="r" b="b" t="t" l="l"/>
            <a:pathLst>
              <a:path h="7413162" w="8073741">
                <a:moveTo>
                  <a:pt x="8073741" y="0"/>
                </a:moveTo>
                <a:lnTo>
                  <a:pt x="0" y="0"/>
                </a:lnTo>
                <a:lnTo>
                  <a:pt x="0" y="7413163"/>
                </a:lnTo>
                <a:lnTo>
                  <a:pt x="8073741" y="7413163"/>
                </a:lnTo>
                <a:lnTo>
                  <a:pt x="8073741"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a:grpSpLocks noChangeAspect="true"/>
          </p:cNvGrpSpPr>
          <p:nvPr/>
        </p:nvGrpSpPr>
        <p:grpSpPr>
          <a:xfrm rot="0">
            <a:off x="8921763" y="674174"/>
            <a:ext cx="8973705" cy="8938652"/>
            <a:chOff x="0" y="0"/>
            <a:chExt cx="6502400" cy="6477000"/>
          </a:xfrm>
        </p:grpSpPr>
        <p:sp>
          <p:nvSpPr>
            <p:cNvPr name="Freeform 8" id="8"/>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4"/>
              <a:stretch>
                <a:fillRect l="-38201" t="0" r="-38201" b="0"/>
              </a:stretch>
            </a:blipFill>
          </p:spPr>
        </p:sp>
        <p:sp>
          <p:nvSpPr>
            <p:cNvPr name="Freeform 9" id="9"/>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7B5A33"/>
            </a:solidFill>
          </p:spPr>
        </p:sp>
      </p:grpSp>
      <p:sp>
        <p:nvSpPr>
          <p:cNvPr name="TextBox 10" id="10"/>
          <p:cNvSpPr txBox="true"/>
          <p:nvPr/>
        </p:nvSpPr>
        <p:spPr>
          <a:xfrm rot="0">
            <a:off x="468923" y="2885070"/>
            <a:ext cx="8218378" cy="5358767"/>
          </a:xfrm>
          <a:prstGeom prst="rect">
            <a:avLst/>
          </a:prstGeom>
        </p:spPr>
        <p:txBody>
          <a:bodyPr anchor="t" rtlCol="false" tIns="0" lIns="0" bIns="0" rIns="0">
            <a:spAutoFit/>
          </a:bodyPr>
          <a:lstStyle/>
          <a:p>
            <a:pPr algn="l" marL="885179" indent="-442590" lvl="1">
              <a:lnSpc>
                <a:spcPts val="6149"/>
              </a:lnSpc>
              <a:buFont typeface="Arial"/>
              <a:buChar char="•"/>
            </a:pPr>
            <a:r>
              <a:rPr lang="en-US" sz="4099">
                <a:solidFill>
                  <a:srgbClr val="FFFFFF"/>
                </a:solidFill>
                <a:latin typeface="Comic Sans"/>
                <a:ea typeface="Comic Sans"/>
                <a:cs typeface="Comic Sans"/>
                <a:sym typeface="Comic Sans"/>
              </a:rPr>
              <a:t>Conventions for the Protection of Migratory Birds</a:t>
            </a:r>
          </a:p>
          <a:p>
            <a:pPr algn="l" marL="885179" indent="-442590" lvl="1">
              <a:lnSpc>
                <a:spcPts val="6149"/>
              </a:lnSpc>
              <a:buFont typeface="Arial"/>
              <a:buChar char="•"/>
            </a:pPr>
            <a:r>
              <a:rPr lang="en-US" sz="4099">
                <a:solidFill>
                  <a:srgbClr val="FFFFFF"/>
                </a:solidFill>
                <a:latin typeface="Comic Sans"/>
                <a:ea typeface="Comic Sans"/>
                <a:cs typeface="Comic Sans"/>
                <a:sym typeface="Comic Sans"/>
              </a:rPr>
              <a:t>North American Waterfowl Management Plan</a:t>
            </a:r>
          </a:p>
          <a:p>
            <a:pPr algn="l" marL="885179" indent="-442590" lvl="1">
              <a:lnSpc>
                <a:spcPts val="6149"/>
              </a:lnSpc>
              <a:buFont typeface="Arial"/>
              <a:buChar char="•"/>
            </a:pPr>
            <a:r>
              <a:rPr lang="en-US" sz="4099">
                <a:solidFill>
                  <a:srgbClr val="FFFFFF"/>
                </a:solidFill>
                <a:latin typeface="Comic Sans"/>
                <a:ea typeface="Comic Sans"/>
                <a:cs typeface="Comic Sans"/>
                <a:sym typeface="Comic Sans"/>
              </a:rPr>
              <a:t>Partners in Flight</a:t>
            </a:r>
          </a:p>
          <a:p>
            <a:pPr algn="l" marL="885179" indent="-442590" lvl="1">
              <a:lnSpc>
                <a:spcPts val="6149"/>
              </a:lnSpc>
              <a:buFont typeface="Arial"/>
              <a:buChar char="•"/>
            </a:pPr>
            <a:r>
              <a:rPr lang="en-US" sz="4099">
                <a:solidFill>
                  <a:srgbClr val="FFFFFF"/>
                </a:solidFill>
                <a:latin typeface="Comic Sans"/>
                <a:ea typeface="Comic Sans"/>
                <a:cs typeface="Comic Sans"/>
                <a:sym typeface="Comic Sans"/>
              </a:rPr>
              <a:t>U.S. Shorebird Conservation Plan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A3E36"/>
        </a:solidFill>
      </p:bgPr>
    </p:bg>
    <p:spTree>
      <p:nvGrpSpPr>
        <p:cNvPr id="1" name=""/>
        <p:cNvGrpSpPr/>
        <p:nvPr/>
      </p:nvGrpSpPr>
      <p:grpSpPr>
        <a:xfrm>
          <a:off x="0" y="0"/>
          <a:ext cx="0" cy="0"/>
          <a:chOff x="0" y="0"/>
          <a:chExt cx="0" cy="0"/>
        </a:xfrm>
      </p:grpSpPr>
      <p:grpSp>
        <p:nvGrpSpPr>
          <p:cNvPr name="Group 2" id="2"/>
          <p:cNvGrpSpPr/>
          <p:nvPr/>
        </p:nvGrpSpPr>
        <p:grpSpPr>
          <a:xfrm rot="0">
            <a:off x="6504147" y="1028700"/>
            <a:ext cx="11512783" cy="1543050"/>
            <a:chOff x="0" y="0"/>
            <a:chExt cx="3032173" cy="406400"/>
          </a:xfrm>
        </p:grpSpPr>
        <p:sp>
          <p:nvSpPr>
            <p:cNvPr name="Freeform 3" id="3"/>
            <p:cNvSpPr/>
            <p:nvPr/>
          </p:nvSpPr>
          <p:spPr>
            <a:xfrm flipH="false" flipV="false" rot="0">
              <a:off x="0" y="0"/>
              <a:ext cx="3032173" cy="406400"/>
            </a:xfrm>
            <a:custGeom>
              <a:avLst/>
              <a:gdLst/>
              <a:ahLst/>
              <a:cxnLst/>
              <a:rect r="r" b="b" t="t" l="l"/>
              <a:pathLst>
                <a:path h="406400" w="3032173">
                  <a:moveTo>
                    <a:pt x="34296" y="0"/>
                  </a:moveTo>
                  <a:lnTo>
                    <a:pt x="2997878" y="0"/>
                  </a:lnTo>
                  <a:cubicBezTo>
                    <a:pt x="3006973" y="0"/>
                    <a:pt x="3015697" y="3613"/>
                    <a:pt x="3022128" y="10045"/>
                  </a:cubicBezTo>
                  <a:cubicBezTo>
                    <a:pt x="3028560" y="16477"/>
                    <a:pt x="3032173" y="25200"/>
                    <a:pt x="3032173" y="34296"/>
                  </a:cubicBezTo>
                  <a:lnTo>
                    <a:pt x="3032173" y="372104"/>
                  </a:lnTo>
                  <a:cubicBezTo>
                    <a:pt x="3032173" y="381200"/>
                    <a:pt x="3028560" y="389923"/>
                    <a:pt x="3022128" y="396355"/>
                  </a:cubicBezTo>
                  <a:cubicBezTo>
                    <a:pt x="3015697" y="402787"/>
                    <a:pt x="3006973" y="406400"/>
                    <a:pt x="2997878" y="406400"/>
                  </a:cubicBezTo>
                  <a:lnTo>
                    <a:pt x="34296" y="406400"/>
                  </a:lnTo>
                  <a:cubicBezTo>
                    <a:pt x="25200" y="406400"/>
                    <a:pt x="16477" y="402787"/>
                    <a:pt x="10045" y="396355"/>
                  </a:cubicBezTo>
                  <a:cubicBezTo>
                    <a:pt x="3613" y="389923"/>
                    <a:pt x="0" y="381200"/>
                    <a:pt x="0" y="372104"/>
                  </a:cubicBezTo>
                  <a:lnTo>
                    <a:pt x="0" y="34296"/>
                  </a:lnTo>
                  <a:cubicBezTo>
                    <a:pt x="0" y="25200"/>
                    <a:pt x="3613" y="16477"/>
                    <a:pt x="10045" y="10045"/>
                  </a:cubicBezTo>
                  <a:cubicBezTo>
                    <a:pt x="16477" y="3613"/>
                    <a:pt x="25200" y="0"/>
                    <a:pt x="34296" y="0"/>
                  </a:cubicBezTo>
                  <a:close/>
                </a:path>
              </a:pathLst>
            </a:custGeom>
            <a:solidFill>
              <a:srgbClr val="7B5A33"/>
            </a:solidFill>
          </p:spPr>
        </p:sp>
        <p:sp>
          <p:nvSpPr>
            <p:cNvPr name="TextBox 4" id="4"/>
            <p:cNvSpPr txBox="true"/>
            <p:nvPr/>
          </p:nvSpPr>
          <p:spPr>
            <a:xfrm>
              <a:off x="0" y="-57150"/>
              <a:ext cx="3032173" cy="463550"/>
            </a:xfrm>
            <a:prstGeom prst="rect">
              <a:avLst/>
            </a:prstGeom>
          </p:spPr>
          <p:txBody>
            <a:bodyPr anchor="ctr" rtlCol="false" tIns="50800" lIns="50800" bIns="50800" rIns="50800"/>
            <a:lstStyle/>
            <a:p>
              <a:pPr algn="ctr">
                <a:lnSpc>
                  <a:spcPts val="3150"/>
                </a:lnSpc>
              </a:pPr>
            </a:p>
          </p:txBody>
        </p:sp>
      </p:grpSp>
      <p:sp>
        <p:nvSpPr>
          <p:cNvPr name="TextBox 5" id="5"/>
          <p:cNvSpPr txBox="true"/>
          <p:nvPr/>
        </p:nvSpPr>
        <p:spPr>
          <a:xfrm rot="0">
            <a:off x="9577109" y="1233673"/>
            <a:ext cx="8439822" cy="952500"/>
          </a:xfrm>
          <a:prstGeom prst="rect">
            <a:avLst/>
          </a:prstGeom>
        </p:spPr>
        <p:txBody>
          <a:bodyPr anchor="t" rtlCol="false" tIns="0" lIns="0" bIns="0" rIns="0">
            <a:spAutoFit/>
          </a:bodyPr>
          <a:lstStyle/>
          <a:p>
            <a:pPr algn="l" marL="0" indent="0" lvl="0">
              <a:lnSpc>
                <a:spcPts val="7559"/>
              </a:lnSpc>
            </a:pPr>
            <a:r>
              <a:rPr lang="en-US" sz="6300">
                <a:solidFill>
                  <a:srgbClr val="FFFFFF"/>
                </a:solidFill>
                <a:latin typeface="Gagalin"/>
                <a:ea typeface="Gagalin"/>
                <a:cs typeface="Gagalin"/>
                <a:sym typeface="Gagalin"/>
              </a:rPr>
              <a:t>Conservation</a:t>
            </a:r>
          </a:p>
        </p:txBody>
      </p:sp>
      <p:sp>
        <p:nvSpPr>
          <p:cNvPr name="TextBox 6" id="6"/>
          <p:cNvSpPr txBox="true"/>
          <p:nvPr/>
        </p:nvSpPr>
        <p:spPr>
          <a:xfrm rot="0">
            <a:off x="8973705" y="3901049"/>
            <a:ext cx="8439822" cy="4421507"/>
          </a:xfrm>
          <a:prstGeom prst="rect">
            <a:avLst/>
          </a:prstGeom>
        </p:spPr>
        <p:txBody>
          <a:bodyPr anchor="t" rtlCol="false" tIns="0" lIns="0" bIns="0" rIns="0">
            <a:spAutoFit/>
          </a:bodyPr>
          <a:lstStyle/>
          <a:p>
            <a:pPr algn="ctr">
              <a:lnSpc>
                <a:spcPts val="8819"/>
              </a:lnSpc>
            </a:pPr>
            <a:r>
              <a:rPr lang="en-US" sz="6299" b="true">
                <a:solidFill>
                  <a:srgbClr val="FFFFFF"/>
                </a:solidFill>
                <a:latin typeface="Comic Sans Bold"/>
                <a:ea typeface="Comic Sans Bold"/>
                <a:cs typeface="Comic Sans Bold"/>
                <a:sym typeface="Comic Sans Bold"/>
              </a:rPr>
              <a:t>What can you do to help conserve migratory species?</a:t>
            </a:r>
          </a:p>
          <a:p>
            <a:pPr algn="ctr" marL="0" indent="0" lvl="0">
              <a:lnSpc>
                <a:spcPts val="8819"/>
              </a:lnSpc>
              <a:spcBef>
                <a:spcPct val="0"/>
              </a:spcBef>
            </a:pPr>
          </a:p>
        </p:txBody>
      </p:sp>
      <p:sp>
        <p:nvSpPr>
          <p:cNvPr name="Freeform 7" id="7"/>
          <p:cNvSpPr/>
          <p:nvPr/>
        </p:nvSpPr>
        <p:spPr>
          <a:xfrm flipH="true" flipV="false" rot="7855629">
            <a:off x="2467277" y="6345427"/>
            <a:ext cx="8073741" cy="7413162"/>
          </a:xfrm>
          <a:custGeom>
            <a:avLst/>
            <a:gdLst/>
            <a:ahLst/>
            <a:cxnLst/>
            <a:rect r="r" b="b" t="t" l="l"/>
            <a:pathLst>
              <a:path h="7413162" w="8073741">
                <a:moveTo>
                  <a:pt x="8073741" y="0"/>
                </a:moveTo>
                <a:lnTo>
                  <a:pt x="0" y="0"/>
                </a:lnTo>
                <a:lnTo>
                  <a:pt x="0" y="7413163"/>
                </a:lnTo>
                <a:lnTo>
                  <a:pt x="8073741" y="7413163"/>
                </a:lnTo>
                <a:lnTo>
                  <a:pt x="8073741"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a:grpSpLocks noChangeAspect="true"/>
          </p:cNvGrpSpPr>
          <p:nvPr/>
        </p:nvGrpSpPr>
        <p:grpSpPr>
          <a:xfrm rot="0">
            <a:off x="0" y="674174"/>
            <a:ext cx="8973705" cy="8938652"/>
            <a:chOff x="0" y="0"/>
            <a:chExt cx="6502400" cy="6477000"/>
          </a:xfrm>
        </p:grpSpPr>
        <p:sp>
          <p:nvSpPr>
            <p:cNvPr name="Freeform 9" id="9"/>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4"/>
              <a:stretch>
                <a:fillRect l="223" t="-16746" r="223" b="-16746"/>
              </a:stretch>
            </a:blipFill>
          </p:spPr>
        </p:sp>
        <p:sp>
          <p:nvSpPr>
            <p:cNvPr name="Freeform 10" id="10"/>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7B5A33"/>
            </a:solid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A3E36"/>
        </a:solidFill>
      </p:bgPr>
    </p:bg>
    <p:spTree>
      <p:nvGrpSpPr>
        <p:cNvPr id="1" name=""/>
        <p:cNvGrpSpPr/>
        <p:nvPr/>
      </p:nvGrpSpPr>
      <p:grpSpPr>
        <a:xfrm>
          <a:off x="0" y="0"/>
          <a:ext cx="0" cy="0"/>
          <a:chOff x="0" y="0"/>
          <a:chExt cx="0" cy="0"/>
        </a:xfrm>
      </p:grpSpPr>
      <p:grpSp>
        <p:nvGrpSpPr>
          <p:cNvPr name="Group 2" id="2"/>
          <p:cNvGrpSpPr/>
          <p:nvPr/>
        </p:nvGrpSpPr>
        <p:grpSpPr>
          <a:xfrm rot="0">
            <a:off x="6646090" y="1163303"/>
            <a:ext cx="11111441" cy="2523288"/>
            <a:chOff x="0" y="0"/>
            <a:chExt cx="2926470" cy="664570"/>
          </a:xfrm>
        </p:grpSpPr>
        <p:sp>
          <p:nvSpPr>
            <p:cNvPr name="Freeform 3" id="3"/>
            <p:cNvSpPr/>
            <p:nvPr/>
          </p:nvSpPr>
          <p:spPr>
            <a:xfrm flipH="false" flipV="false" rot="0">
              <a:off x="0" y="0"/>
              <a:ext cx="2926470" cy="664570"/>
            </a:xfrm>
            <a:custGeom>
              <a:avLst/>
              <a:gdLst/>
              <a:ahLst/>
              <a:cxnLst/>
              <a:rect r="r" b="b" t="t" l="l"/>
              <a:pathLst>
                <a:path h="664570" w="2926470">
                  <a:moveTo>
                    <a:pt x="35534" y="0"/>
                  </a:moveTo>
                  <a:lnTo>
                    <a:pt x="2890936" y="0"/>
                  </a:lnTo>
                  <a:cubicBezTo>
                    <a:pt x="2900360" y="0"/>
                    <a:pt x="2909398" y="3744"/>
                    <a:pt x="2916062" y="10408"/>
                  </a:cubicBezTo>
                  <a:cubicBezTo>
                    <a:pt x="2922726" y="17072"/>
                    <a:pt x="2926470" y="26110"/>
                    <a:pt x="2926470" y="35534"/>
                  </a:cubicBezTo>
                  <a:lnTo>
                    <a:pt x="2926470" y="629035"/>
                  </a:lnTo>
                  <a:cubicBezTo>
                    <a:pt x="2926470" y="648660"/>
                    <a:pt x="2910561" y="664570"/>
                    <a:pt x="2890936" y="664570"/>
                  </a:cubicBezTo>
                  <a:lnTo>
                    <a:pt x="35534" y="664570"/>
                  </a:lnTo>
                  <a:cubicBezTo>
                    <a:pt x="26110" y="664570"/>
                    <a:pt x="17072" y="660826"/>
                    <a:pt x="10408" y="654162"/>
                  </a:cubicBezTo>
                  <a:cubicBezTo>
                    <a:pt x="3744" y="647498"/>
                    <a:pt x="0" y="638460"/>
                    <a:pt x="0" y="629035"/>
                  </a:cubicBezTo>
                  <a:lnTo>
                    <a:pt x="0" y="35534"/>
                  </a:lnTo>
                  <a:cubicBezTo>
                    <a:pt x="0" y="26110"/>
                    <a:pt x="3744" y="17072"/>
                    <a:pt x="10408" y="10408"/>
                  </a:cubicBezTo>
                  <a:cubicBezTo>
                    <a:pt x="17072" y="3744"/>
                    <a:pt x="26110" y="0"/>
                    <a:pt x="35534" y="0"/>
                  </a:cubicBezTo>
                  <a:close/>
                </a:path>
              </a:pathLst>
            </a:custGeom>
            <a:solidFill>
              <a:srgbClr val="7B5A33"/>
            </a:solidFill>
          </p:spPr>
        </p:sp>
        <p:sp>
          <p:nvSpPr>
            <p:cNvPr name="TextBox 4" id="4"/>
            <p:cNvSpPr txBox="true"/>
            <p:nvPr/>
          </p:nvSpPr>
          <p:spPr>
            <a:xfrm>
              <a:off x="0" y="-57150"/>
              <a:ext cx="2926470" cy="721720"/>
            </a:xfrm>
            <a:prstGeom prst="rect">
              <a:avLst/>
            </a:prstGeom>
          </p:spPr>
          <p:txBody>
            <a:bodyPr anchor="ctr" rtlCol="false" tIns="50800" lIns="50800" bIns="50800" rIns="50800"/>
            <a:lstStyle/>
            <a:p>
              <a:pPr algn="ctr">
                <a:lnSpc>
                  <a:spcPts val="3150"/>
                </a:lnSpc>
              </a:pPr>
            </a:p>
          </p:txBody>
        </p:sp>
      </p:grpSp>
      <p:sp>
        <p:nvSpPr>
          <p:cNvPr name="Freeform 5" id="5"/>
          <p:cNvSpPr/>
          <p:nvPr/>
        </p:nvSpPr>
        <p:spPr>
          <a:xfrm flipH="true" flipV="true" rot="1271321">
            <a:off x="14577432" y="4372775"/>
            <a:ext cx="9038700" cy="8299170"/>
          </a:xfrm>
          <a:custGeom>
            <a:avLst/>
            <a:gdLst/>
            <a:ahLst/>
            <a:cxnLst/>
            <a:rect r="r" b="b" t="t" l="l"/>
            <a:pathLst>
              <a:path h="8299170" w="9038700">
                <a:moveTo>
                  <a:pt x="9038700" y="8299170"/>
                </a:moveTo>
                <a:lnTo>
                  <a:pt x="0" y="8299170"/>
                </a:lnTo>
                <a:lnTo>
                  <a:pt x="0" y="0"/>
                </a:lnTo>
                <a:lnTo>
                  <a:pt x="9038700" y="0"/>
                </a:lnTo>
                <a:lnTo>
                  <a:pt x="9038700" y="829917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a:grpSpLocks noChangeAspect="true"/>
          </p:cNvGrpSpPr>
          <p:nvPr/>
        </p:nvGrpSpPr>
        <p:grpSpPr>
          <a:xfrm rot="0">
            <a:off x="413953" y="475875"/>
            <a:ext cx="8973705" cy="8938652"/>
            <a:chOff x="0" y="0"/>
            <a:chExt cx="6502400" cy="6477000"/>
          </a:xfrm>
        </p:grpSpPr>
        <p:sp>
          <p:nvSpPr>
            <p:cNvPr name="Freeform 7" id="7"/>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4"/>
              <a:stretch>
                <a:fillRect l="-38887" t="0" r="-38887" b="0"/>
              </a:stretch>
            </a:blipFill>
          </p:spPr>
        </p:sp>
        <p:sp>
          <p:nvSpPr>
            <p:cNvPr name="Freeform 8" id="8"/>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7B5A33"/>
            </a:solidFill>
          </p:spPr>
        </p:sp>
      </p:grpSp>
      <p:sp>
        <p:nvSpPr>
          <p:cNvPr name="Freeform 9" id="9"/>
          <p:cNvSpPr/>
          <p:nvPr/>
        </p:nvSpPr>
        <p:spPr>
          <a:xfrm flipH="false" flipV="false" rot="-4036800">
            <a:off x="-1201204" y="-1890307"/>
            <a:ext cx="5174548" cy="3641000"/>
          </a:xfrm>
          <a:custGeom>
            <a:avLst/>
            <a:gdLst/>
            <a:ahLst/>
            <a:cxnLst/>
            <a:rect r="r" b="b" t="t" l="l"/>
            <a:pathLst>
              <a:path h="3641000" w="5174548">
                <a:moveTo>
                  <a:pt x="0" y="0"/>
                </a:moveTo>
                <a:lnTo>
                  <a:pt x="5174548" y="0"/>
                </a:lnTo>
                <a:lnTo>
                  <a:pt x="5174548" y="3641000"/>
                </a:lnTo>
                <a:lnTo>
                  <a:pt x="0" y="36410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0325314" y="4171360"/>
            <a:ext cx="6115640" cy="6115640"/>
          </a:xfrm>
          <a:custGeom>
            <a:avLst/>
            <a:gdLst/>
            <a:ahLst/>
            <a:cxnLst/>
            <a:rect r="r" b="b" t="t" l="l"/>
            <a:pathLst>
              <a:path h="6115640" w="6115640">
                <a:moveTo>
                  <a:pt x="0" y="0"/>
                </a:moveTo>
                <a:lnTo>
                  <a:pt x="6115640" y="0"/>
                </a:lnTo>
                <a:lnTo>
                  <a:pt x="6115640" y="6115640"/>
                </a:lnTo>
                <a:lnTo>
                  <a:pt x="0" y="6115640"/>
                </a:lnTo>
                <a:lnTo>
                  <a:pt x="0" y="0"/>
                </a:lnTo>
                <a:close/>
              </a:path>
            </a:pathLst>
          </a:custGeom>
          <a:blipFill>
            <a:blip r:embed="rId7"/>
            <a:stretch>
              <a:fillRect l="0" t="0" r="0" b="0"/>
            </a:stretch>
          </a:blipFill>
        </p:spPr>
      </p:sp>
      <p:sp>
        <p:nvSpPr>
          <p:cNvPr name="TextBox 11" id="11"/>
          <p:cNvSpPr txBox="true"/>
          <p:nvPr/>
        </p:nvSpPr>
        <p:spPr>
          <a:xfrm rot="0">
            <a:off x="843156" y="2723017"/>
            <a:ext cx="8115300" cy="4234819"/>
          </a:xfrm>
          <a:prstGeom prst="rect">
            <a:avLst/>
          </a:prstGeom>
        </p:spPr>
        <p:txBody>
          <a:bodyPr anchor="t" rtlCol="false" tIns="0" lIns="0" bIns="0" rIns="0">
            <a:spAutoFit/>
          </a:bodyPr>
          <a:lstStyle/>
          <a:p>
            <a:pPr algn="ctr">
              <a:lnSpc>
                <a:spcPts val="11399"/>
              </a:lnSpc>
              <a:spcBef>
                <a:spcPct val="0"/>
              </a:spcBef>
            </a:pPr>
            <a:r>
              <a:rPr lang="en-US" sz="7599">
                <a:solidFill>
                  <a:srgbClr val="FFFFFF"/>
                </a:solidFill>
                <a:latin typeface="Comic Sans"/>
                <a:ea typeface="Comic Sans"/>
                <a:cs typeface="Comic Sans"/>
                <a:sym typeface="Comic Sans"/>
              </a:rPr>
              <a:t>Now lets investigate some Motus data!</a:t>
            </a:r>
          </a:p>
        </p:txBody>
      </p:sp>
      <p:sp>
        <p:nvSpPr>
          <p:cNvPr name="TextBox 12" id="12"/>
          <p:cNvSpPr txBox="true"/>
          <p:nvPr/>
        </p:nvSpPr>
        <p:spPr>
          <a:xfrm rot="0">
            <a:off x="8958456" y="949467"/>
            <a:ext cx="8200306" cy="2742558"/>
          </a:xfrm>
          <a:prstGeom prst="rect">
            <a:avLst/>
          </a:prstGeom>
        </p:spPr>
        <p:txBody>
          <a:bodyPr anchor="t" rtlCol="false" tIns="0" lIns="0" bIns="0" rIns="0">
            <a:spAutoFit/>
          </a:bodyPr>
          <a:lstStyle/>
          <a:p>
            <a:pPr algn="ctr" marL="0" indent="0" lvl="0">
              <a:lnSpc>
                <a:spcPts val="10669"/>
              </a:lnSpc>
              <a:spcBef>
                <a:spcPct val="0"/>
              </a:spcBef>
            </a:pPr>
            <a:r>
              <a:rPr lang="en-US" sz="9699" spc="-436">
                <a:solidFill>
                  <a:srgbClr val="FFFFFF"/>
                </a:solidFill>
                <a:latin typeface="Gagalin"/>
                <a:ea typeface="Gagalin"/>
                <a:cs typeface="Gagalin"/>
                <a:sym typeface="Gagalin"/>
              </a:rPr>
              <a:t>motus mysteries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A3E36"/>
        </a:solidFill>
      </p:bgPr>
    </p:bg>
    <p:spTree>
      <p:nvGrpSpPr>
        <p:cNvPr id="1" name=""/>
        <p:cNvGrpSpPr/>
        <p:nvPr/>
      </p:nvGrpSpPr>
      <p:grpSpPr>
        <a:xfrm>
          <a:off x="0" y="0"/>
          <a:ext cx="0" cy="0"/>
          <a:chOff x="0" y="0"/>
          <a:chExt cx="0" cy="0"/>
        </a:xfrm>
      </p:grpSpPr>
      <p:grpSp>
        <p:nvGrpSpPr>
          <p:cNvPr name="Group 2" id="2"/>
          <p:cNvGrpSpPr/>
          <p:nvPr/>
        </p:nvGrpSpPr>
        <p:grpSpPr>
          <a:xfrm rot="0">
            <a:off x="3632241" y="-232944"/>
            <a:ext cx="11375210" cy="2523288"/>
            <a:chOff x="0" y="0"/>
            <a:chExt cx="2995940" cy="664570"/>
          </a:xfrm>
        </p:grpSpPr>
        <p:sp>
          <p:nvSpPr>
            <p:cNvPr name="Freeform 3" id="3"/>
            <p:cNvSpPr/>
            <p:nvPr/>
          </p:nvSpPr>
          <p:spPr>
            <a:xfrm flipH="false" flipV="false" rot="0">
              <a:off x="0" y="0"/>
              <a:ext cx="2995940" cy="664570"/>
            </a:xfrm>
            <a:custGeom>
              <a:avLst/>
              <a:gdLst/>
              <a:ahLst/>
              <a:cxnLst/>
              <a:rect r="r" b="b" t="t" l="l"/>
              <a:pathLst>
                <a:path h="664570" w="2995940">
                  <a:moveTo>
                    <a:pt x="34710" y="0"/>
                  </a:moveTo>
                  <a:lnTo>
                    <a:pt x="2961230" y="0"/>
                  </a:lnTo>
                  <a:cubicBezTo>
                    <a:pt x="2970436" y="0"/>
                    <a:pt x="2979264" y="3657"/>
                    <a:pt x="2985774" y="10166"/>
                  </a:cubicBezTo>
                  <a:cubicBezTo>
                    <a:pt x="2992283" y="16676"/>
                    <a:pt x="2995940" y="25505"/>
                    <a:pt x="2995940" y="34710"/>
                  </a:cubicBezTo>
                  <a:lnTo>
                    <a:pt x="2995940" y="629859"/>
                  </a:lnTo>
                  <a:cubicBezTo>
                    <a:pt x="2995940" y="639065"/>
                    <a:pt x="2992283" y="647894"/>
                    <a:pt x="2985774" y="654403"/>
                  </a:cubicBezTo>
                  <a:cubicBezTo>
                    <a:pt x="2979264" y="660913"/>
                    <a:pt x="2970436" y="664570"/>
                    <a:pt x="2961230" y="664570"/>
                  </a:cubicBezTo>
                  <a:lnTo>
                    <a:pt x="34710" y="664570"/>
                  </a:lnTo>
                  <a:cubicBezTo>
                    <a:pt x="25505" y="664570"/>
                    <a:pt x="16676" y="660913"/>
                    <a:pt x="10166" y="654403"/>
                  </a:cubicBezTo>
                  <a:cubicBezTo>
                    <a:pt x="3657" y="647894"/>
                    <a:pt x="0" y="639065"/>
                    <a:pt x="0" y="629859"/>
                  </a:cubicBezTo>
                  <a:lnTo>
                    <a:pt x="0" y="34710"/>
                  </a:lnTo>
                  <a:cubicBezTo>
                    <a:pt x="0" y="25505"/>
                    <a:pt x="3657" y="16676"/>
                    <a:pt x="10166" y="10166"/>
                  </a:cubicBezTo>
                  <a:cubicBezTo>
                    <a:pt x="16676" y="3657"/>
                    <a:pt x="25505" y="0"/>
                    <a:pt x="34710" y="0"/>
                  </a:cubicBezTo>
                  <a:close/>
                </a:path>
              </a:pathLst>
            </a:custGeom>
            <a:solidFill>
              <a:srgbClr val="7B5A33"/>
            </a:solidFill>
          </p:spPr>
        </p:sp>
        <p:sp>
          <p:nvSpPr>
            <p:cNvPr name="TextBox 4" id="4"/>
            <p:cNvSpPr txBox="true"/>
            <p:nvPr/>
          </p:nvSpPr>
          <p:spPr>
            <a:xfrm>
              <a:off x="0" y="-57150"/>
              <a:ext cx="2995940" cy="721720"/>
            </a:xfrm>
            <a:prstGeom prst="rect">
              <a:avLst/>
            </a:prstGeom>
          </p:spPr>
          <p:txBody>
            <a:bodyPr anchor="ctr" rtlCol="false" tIns="50800" lIns="50800" bIns="50800" rIns="50800"/>
            <a:lstStyle/>
            <a:p>
              <a:pPr algn="ctr">
                <a:lnSpc>
                  <a:spcPts val="3150"/>
                </a:lnSpc>
              </a:pPr>
            </a:p>
          </p:txBody>
        </p:sp>
      </p:grpSp>
      <p:sp>
        <p:nvSpPr>
          <p:cNvPr name="Freeform 5" id="5"/>
          <p:cNvSpPr/>
          <p:nvPr/>
        </p:nvSpPr>
        <p:spPr>
          <a:xfrm flipH="true" flipV="true" rot="1271321">
            <a:off x="14577432" y="4372775"/>
            <a:ext cx="9038700" cy="8299170"/>
          </a:xfrm>
          <a:custGeom>
            <a:avLst/>
            <a:gdLst/>
            <a:ahLst/>
            <a:cxnLst/>
            <a:rect r="r" b="b" t="t" l="l"/>
            <a:pathLst>
              <a:path h="8299170" w="9038700">
                <a:moveTo>
                  <a:pt x="9038700" y="8299170"/>
                </a:moveTo>
                <a:lnTo>
                  <a:pt x="0" y="8299170"/>
                </a:lnTo>
                <a:lnTo>
                  <a:pt x="0" y="0"/>
                </a:lnTo>
                <a:lnTo>
                  <a:pt x="9038700" y="0"/>
                </a:lnTo>
                <a:lnTo>
                  <a:pt x="9038700" y="829917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4036800">
            <a:off x="-1201204" y="-1890307"/>
            <a:ext cx="5174548" cy="3641000"/>
          </a:xfrm>
          <a:custGeom>
            <a:avLst/>
            <a:gdLst/>
            <a:ahLst/>
            <a:cxnLst/>
            <a:rect r="r" b="b" t="t" l="l"/>
            <a:pathLst>
              <a:path h="3641000" w="5174548">
                <a:moveTo>
                  <a:pt x="0" y="0"/>
                </a:moveTo>
                <a:lnTo>
                  <a:pt x="5174548" y="0"/>
                </a:lnTo>
                <a:lnTo>
                  <a:pt x="5174548" y="3641000"/>
                </a:lnTo>
                <a:lnTo>
                  <a:pt x="0" y="3641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2904385" y="376558"/>
            <a:ext cx="12830922" cy="1390008"/>
          </a:xfrm>
          <a:prstGeom prst="rect">
            <a:avLst/>
          </a:prstGeom>
        </p:spPr>
        <p:txBody>
          <a:bodyPr anchor="t" rtlCol="false" tIns="0" lIns="0" bIns="0" rIns="0">
            <a:spAutoFit/>
          </a:bodyPr>
          <a:lstStyle/>
          <a:p>
            <a:pPr algn="ctr" marL="0" indent="0" lvl="0">
              <a:lnSpc>
                <a:spcPts val="10669"/>
              </a:lnSpc>
              <a:spcBef>
                <a:spcPct val="0"/>
              </a:spcBef>
            </a:pPr>
            <a:r>
              <a:rPr lang="en-US" sz="9699" spc="-436">
                <a:solidFill>
                  <a:srgbClr val="FFFFFF"/>
                </a:solidFill>
                <a:latin typeface="Gagalin"/>
                <a:ea typeface="Gagalin"/>
                <a:cs typeface="Gagalin"/>
                <a:sym typeface="Gagalin"/>
              </a:rPr>
              <a:t>motus mysteries</a:t>
            </a:r>
          </a:p>
        </p:txBody>
      </p:sp>
      <p:sp>
        <p:nvSpPr>
          <p:cNvPr name="TextBox 8" id="8"/>
          <p:cNvSpPr txBox="true"/>
          <p:nvPr/>
        </p:nvSpPr>
        <p:spPr>
          <a:xfrm rot="0">
            <a:off x="0" y="2847172"/>
            <a:ext cx="17633107" cy="6389563"/>
          </a:xfrm>
          <a:prstGeom prst="rect">
            <a:avLst/>
          </a:prstGeom>
        </p:spPr>
        <p:txBody>
          <a:bodyPr anchor="t" rtlCol="false" tIns="0" lIns="0" bIns="0" rIns="0">
            <a:spAutoFit/>
          </a:bodyPr>
          <a:lstStyle/>
          <a:p>
            <a:pPr algn="l" marL="819328" indent="-409664" lvl="1">
              <a:lnSpc>
                <a:spcPts val="5692"/>
              </a:lnSpc>
              <a:buFont typeface="Arial"/>
              <a:buChar char="•"/>
            </a:pPr>
            <a:r>
              <a:rPr lang="en-US" sz="3794">
                <a:solidFill>
                  <a:srgbClr val="FFFFFF"/>
                </a:solidFill>
                <a:latin typeface="Comic Sans"/>
                <a:ea typeface="Comic Sans"/>
                <a:cs typeface="Comic Sans"/>
                <a:sym typeface="Comic Sans"/>
              </a:rPr>
              <a:t>What surprises or interests you about this species?</a:t>
            </a:r>
          </a:p>
          <a:p>
            <a:pPr algn="l" marL="819328" indent="-409664" lvl="1">
              <a:lnSpc>
                <a:spcPts val="5692"/>
              </a:lnSpc>
              <a:buFont typeface="Arial"/>
              <a:buChar char="•"/>
            </a:pPr>
            <a:r>
              <a:rPr lang="en-US" sz="3794">
                <a:solidFill>
                  <a:srgbClr val="FFFFFF"/>
                </a:solidFill>
                <a:latin typeface="Comic Sans"/>
                <a:ea typeface="Comic Sans"/>
                <a:cs typeface="Comic Sans"/>
                <a:sym typeface="Comic Sans"/>
              </a:rPr>
              <a:t>Did you expect the species’ range to look like this? Why or why not?</a:t>
            </a:r>
          </a:p>
          <a:p>
            <a:pPr algn="l" marL="819328" indent="-409664" lvl="1">
              <a:lnSpc>
                <a:spcPts val="5692"/>
              </a:lnSpc>
              <a:buFont typeface="Arial"/>
              <a:buChar char="•"/>
            </a:pPr>
            <a:r>
              <a:rPr lang="en-US" sz="3794">
                <a:solidFill>
                  <a:srgbClr val="FFFFFF"/>
                </a:solidFill>
                <a:latin typeface="Comic Sans"/>
                <a:ea typeface="Comic Sans"/>
                <a:cs typeface="Comic Sans"/>
                <a:sym typeface="Comic Sans"/>
              </a:rPr>
              <a:t>Do you think the individual stayed in the area or moved on after detection?</a:t>
            </a:r>
          </a:p>
          <a:p>
            <a:pPr algn="l" marL="819328" indent="-409664" lvl="1">
              <a:lnSpc>
                <a:spcPts val="5692"/>
              </a:lnSpc>
              <a:buFont typeface="Arial"/>
              <a:buChar char="•"/>
            </a:pPr>
            <a:r>
              <a:rPr lang="en-US" sz="3794">
                <a:solidFill>
                  <a:srgbClr val="FFFFFF"/>
                </a:solidFill>
                <a:latin typeface="Comic Sans"/>
                <a:ea typeface="Comic Sans"/>
                <a:cs typeface="Comic Sans"/>
                <a:sym typeface="Comic Sans"/>
              </a:rPr>
              <a:t>Motus tracks are dependent on where towers are located. If you wanted to help elucidate more about this individuals migratory path, where would you suggest more towers be built?</a:t>
            </a:r>
          </a:p>
          <a:p>
            <a:pPr algn="l" marL="819328" indent="-409664" lvl="1">
              <a:lnSpc>
                <a:spcPts val="5692"/>
              </a:lnSpc>
              <a:buFont typeface="Arial"/>
              <a:buChar char="•"/>
            </a:pPr>
            <a:r>
              <a:rPr lang="en-US" sz="3794">
                <a:solidFill>
                  <a:srgbClr val="FFFFFF"/>
                </a:solidFill>
                <a:latin typeface="Comic Sans"/>
                <a:ea typeface="Comic Sans"/>
                <a:cs typeface="Comic Sans"/>
                <a:sym typeface="Comic Sans"/>
              </a:rPr>
              <a:t>What stands out about the individual’s flight path?</a:t>
            </a:r>
          </a:p>
          <a:p>
            <a:pPr algn="l" marL="819328" indent="-409664" lvl="1">
              <a:lnSpc>
                <a:spcPts val="5692"/>
              </a:lnSpc>
              <a:buFont typeface="Arial"/>
              <a:buChar char="•"/>
            </a:pPr>
            <a:r>
              <a:rPr lang="en-US" sz="3794">
                <a:solidFill>
                  <a:srgbClr val="FFFFFF"/>
                </a:solidFill>
                <a:latin typeface="Comic Sans"/>
                <a:ea typeface="Comic Sans"/>
                <a:cs typeface="Comic Sans"/>
                <a:sym typeface="Comic Sans"/>
              </a:rPr>
              <a:t>Do you believe the detections are accurate?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A3E36"/>
        </a:solidFill>
      </p:bgPr>
    </p:bg>
    <p:spTree>
      <p:nvGrpSpPr>
        <p:cNvPr id="1" name=""/>
        <p:cNvGrpSpPr/>
        <p:nvPr/>
      </p:nvGrpSpPr>
      <p:grpSpPr>
        <a:xfrm>
          <a:off x="0" y="0"/>
          <a:ext cx="0" cy="0"/>
          <a:chOff x="0" y="0"/>
          <a:chExt cx="0" cy="0"/>
        </a:xfrm>
      </p:grpSpPr>
      <p:sp>
        <p:nvSpPr>
          <p:cNvPr name="Freeform 2" id="2"/>
          <p:cNvSpPr/>
          <p:nvPr/>
        </p:nvSpPr>
        <p:spPr>
          <a:xfrm flipH="false" flipV="false" rot="-7375539">
            <a:off x="228756" y="5771475"/>
            <a:ext cx="9835798" cy="9031051"/>
          </a:xfrm>
          <a:custGeom>
            <a:avLst/>
            <a:gdLst/>
            <a:ahLst/>
            <a:cxnLst/>
            <a:rect r="r" b="b" t="t" l="l"/>
            <a:pathLst>
              <a:path h="9031051" w="9835798">
                <a:moveTo>
                  <a:pt x="0" y="0"/>
                </a:moveTo>
                <a:lnTo>
                  <a:pt x="9835798" y="0"/>
                </a:lnTo>
                <a:lnTo>
                  <a:pt x="9835798" y="9031050"/>
                </a:lnTo>
                <a:lnTo>
                  <a:pt x="0" y="90310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028700"/>
            <a:ext cx="11675375" cy="2351405"/>
            <a:chOff x="0" y="0"/>
            <a:chExt cx="3074996" cy="619300"/>
          </a:xfrm>
        </p:grpSpPr>
        <p:sp>
          <p:nvSpPr>
            <p:cNvPr name="Freeform 4" id="4"/>
            <p:cNvSpPr/>
            <p:nvPr/>
          </p:nvSpPr>
          <p:spPr>
            <a:xfrm flipH="false" flipV="false" rot="0">
              <a:off x="0" y="0"/>
              <a:ext cx="3074996" cy="619300"/>
            </a:xfrm>
            <a:custGeom>
              <a:avLst/>
              <a:gdLst/>
              <a:ahLst/>
              <a:cxnLst/>
              <a:rect r="r" b="b" t="t" l="l"/>
              <a:pathLst>
                <a:path h="619300" w="3074996">
                  <a:moveTo>
                    <a:pt x="33818" y="0"/>
                  </a:moveTo>
                  <a:lnTo>
                    <a:pt x="3041178" y="0"/>
                  </a:lnTo>
                  <a:cubicBezTo>
                    <a:pt x="3050147" y="0"/>
                    <a:pt x="3058749" y="3563"/>
                    <a:pt x="3065091" y="9905"/>
                  </a:cubicBezTo>
                  <a:cubicBezTo>
                    <a:pt x="3071433" y="16247"/>
                    <a:pt x="3074996" y="24849"/>
                    <a:pt x="3074996" y="33818"/>
                  </a:cubicBezTo>
                  <a:lnTo>
                    <a:pt x="3074996" y="585482"/>
                  </a:lnTo>
                  <a:cubicBezTo>
                    <a:pt x="3074996" y="594451"/>
                    <a:pt x="3071433" y="603053"/>
                    <a:pt x="3065091" y="609395"/>
                  </a:cubicBezTo>
                  <a:cubicBezTo>
                    <a:pt x="3058749" y="615737"/>
                    <a:pt x="3050147" y="619300"/>
                    <a:pt x="3041178" y="619300"/>
                  </a:cubicBezTo>
                  <a:lnTo>
                    <a:pt x="33818" y="619300"/>
                  </a:lnTo>
                  <a:cubicBezTo>
                    <a:pt x="15141" y="619300"/>
                    <a:pt x="0" y="604159"/>
                    <a:pt x="0" y="585482"/>
                  </a:cubicBezTo>
                  <a:lnTo>
                    <a:pt x="0" y="33818"/>
                  </a:lnTo>
                  <a:cubicBezTo>
                    <a:pt x="0" y="15141"/>
                    <a:pt x="15141" y="0"/>
                    <a:pt x="33818" y="0"/>
                  </a:cubicBezTo>
                  <a:close/>
                </a:path>
              </a:pathLst>
            </a:custGeom>
            <a:solidFill>
              <a:srgbClr val="7B5A33"/>
            </a:solidFill>
          </p:spPr>
        </p:sp>
        <p:sp>
          <p:nvSpPr>
            <p:cNvPr name="TextBox 5" id="5"/>
            <p:cNvSpPr txBox="true"/>
            <p:nvPr/>
          </p:nvSpPr>
          <p:spPr>
            <a:xfrm>
              <a:off x="0" y="-57150"/>
              <a:ext cx="3074996" cy="676450"/>
            </a:xfrm>
            <a:prstGeom prst="rect">
              <a:avLst/>
            </a:prstGeom>
          </p:spPr>
          <p:txBody>
            <a:bodyPr anchor="ctr" rtlCol="false" tIns="50800" lIns="50800" bIns="50800" rIns="50800"/>
            <a:lstStyle/>
            <a:p>
              <a:pPr algn="ctr">
                <a:lnSpc>
                  <a:spcPts val="3150"/>
                </a:lnSpc>
              </a:pPr>
            </a:p>
          </p:txBody>
        </p:sp>
      </p:grpSp>
      <p:grpSp>
        <p:nvGrpSpPr>
          <p:cNvPr name="Group 6" id="6"/>
          <p:cNvGrpSpPr>
            <a:grpSpLocks noChangeAspect="true"/>
          </p:cNvGrpSpPr>
          <p:nvPr/>
        </p:nvGrpSpPr>
        <p:grpSpPr>
          <a:xfrm rot="0">
            <a:off x="9566532" y="674174"/>
            <a:ext cx="8973705" cy="8938652"/>
            <a:chOff x="0" y="0"/>
            <a:chExt cx="6502400" cy="6477000"/>
          </a:xfrm>
        </p:grpSpPr>
        <p:sp>
          <p:nvSpPr>
            <p:cNvPr name="Freeform 7" id="7"/>
            <p:cNvSpPr/>
            <p:nvPr/>
          </p:nvSpPr>
          <p:spPr>
            <a:xfrm flipH="false" flipV="false" rot="0">
              <a:off x="-23042" y="119185"/>
              <a:ext cx="6542159" cy="6244242"/>
            </a:xfrm>
            <a:custGeom>
              <a:avLst/>
              <a:gdLst/>
              <a:ahLst/>
              <a:cxnLst/>
              <a:rect r="r" b="b" t="t" l="l"/>
              <a:pathLst>
                <a:path h="6244242" w="6542159">
                  <a:moveTo>
                    <a:pt x="3271080" y="4996"/>
                  </a:moveTo>
                  <a:cubicBezTo>
                    <a:pt x="2154117" y="0"/>
                    <a:pt x="1119857" y="593026"/>
                    <a:pt x="559929" y="1559521"/>
                  </a:cubicBezTo>
                  <a:cubicBezTo>
                    <a:pt x="0" y="2526015"/>
                    <a:pt x="0" y="3718228"/>
                    <a:pt x="559929" y="4684723"/>
                  </a:cubicBezTo>
                  <a:cubicBezTo>
                    <a:pt x="1119857" y="5651217"/>
                    <a:pt x="2154117" y="6244243"/>
                    <a:pt x="3271080" y="6239248"/>
                  </a:cubicBezTo>
                  <a:cubicBezTo>
                    <a:pt x="4388043" y="6244243"/>
                    <a:pt x="5422303" y="5651217"/>
                    <a:pt x="5982231" y="4684723"/>
                  </a:cubicBezTo>
                  <a:cubicBezTo>
                    <a:pt x="6542160" y="3718229"/>
                    <a:pt x="6542160" y="2526015"/>
                    <a:pt x="5982231" y="1559521"/>
                  </a:cubicBezTo>
                  <a:cubicBezTo>
                    <a:pt x="5422303" y="593027"/>
                    <a:pt x="4388043" y="1"/>
                    <a:pt x="3271080" y="4996"/>
                  </a:cubicBezTo>
                  <a:close/>
                </a:path>
              </a:pathLst>
            </a:custGeom>
            <a:blipFill>
              <a:blip r:embed="rId4"/>
              <a:stretch>
                <a:fillRect l="-24642" t="0" r="-24642" b="0"/>
              </a:stretch>
            </a:blipFill>
          </p:spPr>
        </p:sp>
        <p:sp>
          <p:nvSpPr>
            <p:cNvPr name="Freeform 8" id="8"/>
            <p:cNvSpPr/>
            <p:nvPr/>
          </p:nvSpPr>
          <p:spPr>
            <a:xfrm flipH="false" flipV="false" rot="0">
              <a:off x="73038" y="66269"/>
              <a:ext cx="6350000" cy="6349987"/>
            </a:xfrm>
            <a:custGeom>
              <a:avLst/>
              <a:gdLst/>
              <a:ahLst/>
              <a:cxnLst/>
              <a:rect r="r" b="b" t="t" l="l"/>
              <a:pathLst>
                <a:path h="6349987" w="6350000">
                  <a:moveTo>
                    <a:pt x="3175000" y="6349987"/>
                  </a:moveTo>
                  <a:cubicBezTo>
                    <a:pt x="1424279" y="6349987"/>
                    <a:pt x="0" y="4925733"/>
                    <a:pt x="0" y="3175038"/>
                  </a:cubicBezTo>
                  <a:cubicBezTo>
                    <a:pt x="0" y="1424317"/>
                    <a:pt x="1424292" y="0"/>
                    <a:pt x="3175000" y="0"/>
                  </a:cubicBezTo>
                  <a:cubicBezTo>
                    <a:pt x="4925733" y="0"/>
                    <a:pt x="6350000" y="1424330"/>
                    <a:pt x="6350000" y="3175038"/>
                  </a:cubicBezTo>
                  <a:cubicBezTo>
                    <a:pt x="6350000" y="4925720"/>
                    <a:pt x="4925733" y="6349987"/>
                    <a:pt x="3175000" y="6349987"/>
                  </a:cubicBezTo>
                  <a:close/>
                  <a:moveTo>
                    <a:pt x="3175000" y="115760"/>
                  </a:moveTo>
                  <a:cubicBezTo>
                    <a:pt x="1488135" y="115760"/>
                    <a:pt x="115760" y="1488148"/>
                    <a:pt x="115760" y="3175038"/>
                  </a:cubicBezTo>
                  <a:cubicBezTo>
                    <a:pt x="115760" y="4861915"/>
                    <a:pt x="1488135" y="6234265"/>
                    <a:pt x="3175000" y="6234265"/>
                  </a:cubicBezTo>
                  <a:cubicBezTo>
                    <a:pt x="4861852" y="6234265"/>
                    <a:pt x="6234265" y="4861890"/>
                    <a:pt x="6234265" y="3175038"/>
                  </a:cubicBezTo>
                  <a:cubicBezTo>
                    <a:pt x="6234265" y="1488148"/>
                    <a:pt x="4861852" y="115760"/>
                    <a:pt x="3175000" y="115760"/>
                  </a:cubicBezTo>
                  <a:close/>
                </a:path>
              </a:pathLst>
            </a:custGeom>
            <a:solidFill>
              <a:srgbClr val="7B5A33"/>
            </a:solidFill>
          </p:spPr>
        </p:sp>
      </p:grpSp>
      <p:sp>
        <p:nvSpPr>
          <p:cNvPr name="TextBox 9" id="9"/>
          <p:cNvSpPr txBox="true"/>
          <p:nvPr/>
        </p:nvSpPr>
        <p:spPr>
          <a:xfrm rot="0">
            <a:off x="1028700" y="1382786"/>
            <a:ext cx="11675375" cy="1327790"/>
          </a:xfrm>
          <a:prstGeom prst="rect">
            <a:avLst/>
          </a:prstGeom>
        </p:spPr>
        <p:txBody>
          <a:bodyPr anchor="t" rtlCol="false" tIns="0" lIns="0" bIns="0" rIns="0">
            <a:spAutoFit/>
          </a:bodyPr>
          <a:lstStyle/>
          <a:p>
            <a:pPr algn="ctr">
              <a:lnSpc>
                <a:spcPts val="11099"/>
              </a:lnSpc>
              <a:spcBef>
                <a:spcPct val="0"/>
              </a:spcBef>
            </a:pPr>
            <a:r>
              <a:rPr lang="en-US" sz="7399">
                <a:solidFill>
                  <a:srgbClr val="FFFFFF"/>
                </a:solidFill>
                <a:latin typeface="Gagalin"/>
                <a:ea typeface="Gagalin"/>
                <a:cs typeface="Gagalin"/>
                <a:sym typeface="Gagalin"/>
              </a:rPr>
              <a:t>Working with motus data</a:t>
            </a:r>
          </a:p>
        </p:txBody>
      </p:sp>
      <p:sp>
        <p:nvSpPr>
          <p:cNvPr name="TextBox 10" id="10"/>
          <p:cNvSpPr txBox="true"/>
          <p:nvPr/>
        </p:nvSpPr>
        <p:spPr>
          <a:xfrm rot="0">
            <a:off x="363389" y="3852997"/>
            <a:ext cx="9566532" cy="5226496"/>
          </a:xfrm>
          <a:prstGeom prst="rect">
            <a:avLst/>
          </a:prstGeom>
        </p:spPr>
        <p:txBody>
          <a:bodyPr anchor="t" rtlCol="false" tIns="0" lIns="0" bIns="0" rIns="0">
            <a:spAutoFit/>
          </a:bodyPr>
          <a:lstStyle/>
          <a:p>
            <a:pPr algn="ctr">
              <a:lnSpc>
                <a:spcPts val="8357"/>
              </a:lnSpc>
              <a:spcBef>
                <a:spcPct val="0"/>
              </a:spcBef>
            </a:pPr>
            <a:r>
              <a:rPr lang="en-US" sz="5571">
                <a:solidFill>
                  <a:srgbClr val="FFFFFF"/>
                </a:solidFill>
                <a:latin typeface="Comic Sans"/>
                <a:ea typeface="Comic Sans"/>
                <a:cs typeface="Comic Sans"/>
                <a:sym typeface="Comic Sans"/>
              </a:rPr>
              <a:t>Lets </a:t>
            </a:r>
            <a:r>
              <a:rPr lang="en-US" sz="5571">
                <a:solidFill>
                  <a:srgbClr val="FFFFFF"/>
                </a:solidFill>
                <a:latin typeface="Comic Sans"/>
                <a:ea typeface="Comic Sans"/>
                <a:cs typeface="Comic Sans"/>
                <a:sym typeface="Comic Sans"/>
              </a:rPr>
              <a:t>use the Motus dashboard to explore how Motus data is processed and presented on an open-source platform</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A3E36"/>
        </a:solidFill>
      </p:bgPr>
    </p:bg>
    <p:spTree>
      <p:nvGrpSpPr>
        <p:cNvPr id="1" name=""/>
        <p:cNvGrpSpPr/>
        <p:nvPr/>
      </p:nvGrpSpPr>
      <p:grpSpPr>
        <a:xfrm>
          <a:off x="0" y="0"/>
          <a:ext cx="0" cy="0"/>
          <a:chOff x="0" y="0"/>
          <a:chExt cx="0" cy="0"/>
        </a:xfrm>
      </p:grpSpPr>
      <p:grpSp>
        <p:nvGrpSpPr>
          <p:cNvPr name="Group 2" id="2"/>
          <p:cNvGrpSpPr/>
          <p:nvPr/>
        </p:nvGrpSpPr>
        <p:grpSpPr>
          <a:xfrm rot="0">
            <a:off x="0" y="354623"/>
            <a:ext cx="13938533" cy="2556296"/>
            <a:chOff x="0" y="0"/>
            <a:chExt cx="3671054" cy="673263"/>
          </a:xfrm>
        </p:grpSpPr>
        <p:sp>
          <p:nvSpPr>
            <p:cNvPr name="Freeform 3" id="3"/>
            <p:cNvSpPr/>
            <p:nvPr/>
          </p:nvSpPr>
          <p:spPr>
            <a:xfrm flipH="false" flipV="false" rot="0">
              <a:off x="0" y="0"/>
              <a:ext cx="3671054" cy="673263"/>
            </a:xfrm>
            <a:custGeom>
              <a:avLst/>
              <a:gdLst/>
              <a:ahLst/>
              <a:cxnLst/>
              <a:rect r="r" b="b" t="t" l="l"/>
              <a:pathLst>
                <a:path h="673263" w="3671054">
                  <a:moveTo>
                    <a:pt x="28327" y="0"/>
                  </a:moveTo>
                  <a:lnTo>
                    <a:pt x="3642727" y="0"/>
                  </a:lnTo>
                  <a:cubicBezTo>
                    <a:pt x="3658372" y="0"/>
                    <a:pt x="3671054" y="12682"/>
                    <a:pt x="3671054" y="28327"/>
                  </a:cubicBezTo>
                  <a:lnTo>
                    <a:pt x="3671054" y="644936"/>
                  </a:lnTo>
                  <a:cubicBezTo>
                    <a:pt x="3671054" y="660581"/>
                    <a:pt x="3658372" y="673263"/>
                    <a:pt x="3642727" y="673263"/>
                  </a:cubicBezTo>
                  <a:lnTo>
                    <a:pt x="28327" y="673263"/>
                  </a:lnTo>
                  <a:cubicBezTo>
                    <a:pt x="12682" y="673263"/>
                    <a:pt x="0" y="660581"/>
                    <a:pt x="0" y="644936"/>
                  </a:cubicBezTo>
                  <a:lnTo>
                    <a:pt x="0" y="28327"/>
                  </a:lnTo>
                  <a:cubicBezTo>
                    <a:pt x="0" y="12682"/>
                    <a:pt x="12682" y="0"/>
                    <a:pt x="28327" y="0"/>
                  </a:cubicBezTo>
                  <a:close/>
                </a:path>
              </a:pathLst>
            </a:custGeom>
            <a:solidFill>
              <a:srgbClr val="7B5A33"/>
            </a:solidFill>
          </p:spPr>
        </p:sp>
        <p:sp>
          <p:nvSpPr>
            <p:cNvPr name="TextBox 4" id="4"/>
            <p:cNvSpPr txBox="true"/>
            <p:nvPr/>
          </p:nvSpPr>
          <p:spPr>
            <a:xfrm>
              <a:off x="0" y="-57150"/>
              <a:ext cx="3671054" cy="730413"/>
            </a:xfrm>
            <a:prstGeom prst="rect">
              <a:avLst/>
            </a:prstGeom>
          </p:spPr>
          <p:txBody>
            <a:bodyPr anchor="ctr" rtlCol="false" tIns="50800" lIns="50800" bIns="50800" rIns="50800"/>
            <a:lstStyle/>
            <a:p>
              <a:pPr algn="ctr">
                <a:lnSpc>
                  <a:spcPts val="3150"/>
                </a:lnSpc>
              </a:pPr>
            </a:p>
          </p:txBody>
        </p:sp>
      </p:grpSp>
      <p:sp>
        <p:nvSpPr>
          <p:cNvPr name="Freeform 5" id="5"/>
          <p:cNvSpPr/>
          <p:nvPr/>
        </p:nvSpPr>
        <p:spPr>
          <a:xfrm flipH="false" flipV="false" rot="-4036800">
            <a:off x="-1244768" y="-1999219"/>
            <a:ext cx="5174548" cy="3641000"/>
          </a:xfrm>
          <a:custGeom>
            <a:avLst/>
            <a:gdLst/>
            <a:ahLst/>
            <a:cxnLst/>
            <a:rect r="r" b="b" t="t" l="l"/>
            <a:pathLst>
              <a:path h="3641000" w="5174548">
                <a:moveTo>
                  <a:pt x="0" y="0"/>
                </a:moveTo>
                <a:lnTo>
                  <a:pt x="5174547" y="0"/>
                </a:lnTo>
                <a:lnTo>
                  <a:pt x="5174547" y="3641000"/>
                </a:lnTo>
                <a:lnTo>
                  <a:pt x="0" y="3641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588533" y="154598"/>
            <a:ext cx="13938533" cy="2546990"/>
          </a:xfrm>
          <a:prstGeom prst="rect">
            <a:avLst/>
          </a:prstGeom>
        </p:spPr>
        <p:txBody>
          <a:bodyPr anchor="t" rtlCol="false" tIns="0" lIns="0" bIns="0" rIns="0">
            <a:spAutoFit/>
          </a:bodyPr>
          <a:lstStyle/>
          <a:p>
            <a:pPr algn="ctr">
              <a:lnSpc>
                <a:spcPts val="10349"/>
              </a:lnSpc>
              <a:spcBef>
                <a:spcPct val="0"/>
              </a:spcBef>
            </a:pPr>
            <a:r>
              <a:rPr lang="en-US" sz="6899">
                <a:solidFill>
                  <a:srgbClr val="FFFFFF"/>
                </a:solidFill>
                <a:latin typeface="Gagalin"/>
                <a:ea typeface="Gagalin"/>
                <a:cs typeface="Gagalin"/>
                <a:sym typeface="Gagalin"/>
              </a:rPr>
              <a:t>Create Your Own Story and Present Motus Data</a:t>
            </a:r>
          </a:p>
        </p:txBody>
      </p:sp>
      <p:sp>
        <p:nvSpPr>
          <p:cNvPr name="TextBox 7" id="7"/>
          <p:cNvSpPr txBox="true"/>
          <p:nvPr/>
        </p:nvSpPr>
        <p:spPr>
          <a:xfrm rot="0">
            <a:off x="131885" y="2982936"/>
            <a:ext cx="18024231" cy="6926582"/>
          </a:xfrm>
          <a:prstGeom prst="rect">
            <a:avLst/>
          </a:prstGeom>
        </p:spPr>
        <p:txBody>
          <a:bodyPr anchor="t" rtlCol="false" tIns="0" lIns="0" bIns="0" rIns="0">
            <a:spAutoFit/>
          </a:bodyPr>
          <a:lstStyle/>
          <a:p>
            <a:pPr algn="just" marL="798821" indent="-399411" lvl="1">
              <a:lnSpc>
                <a:spcPts val="5549"/>
              </a:lnSpc>
              <a:buFont typeface="Arial"/>
              <a:buChar char="•"/>
            </a:pPr>
            <a:r>
              <a:rPr lang="en-US" sz="3699">
                <a:solidFill>
                  <a:srgbClr val="FFFFFF"/>
                </a:solidFill>
                <a:latin typeface="Comic Sans"/>
                <a:ea typeface="Comic Sans"/>
                <a:cs typeface="Comic Sans"/>
                <a:sym typeface="Comic Sans"/>
              </a:rPr>
              <a:t>S</a:t>
            </a:r>
            <a:r>
              <a:rPr lang="en-US" sz="3699">
                <a:solidFill>
                  <a:srgbClr val="FFFFFF"/>
                </a:solidFill>
                <a:latin typeface="Comic Sans"/>
                <a:ea typeface="Comic Sans"/>
                <a:cs typeface="Comic Sans"/>
                <a:sym typeface="Comic Sans"/>
              </a:rPr>
              <a:t>elect an individual animal to investigate.</a:t>
            </a:r>
          </a:p>
          <a:p>
            <a:pPr algn="just" marL="798821" indent="-399411" lvl="1">
              <a:lnSpc>
                <a:spcPts val="5549"/>
              </a:lnSpc>
              <a:buFont typeface="Arial"/>
              <a:buChar char="•"/>
            </a:pPr>
            <a:r>
              <a:rPr lang="en-US" sz="3699">
                <a:solidFill>
                  <a:srgbClr val="FFFFFF"/>
                </a:solidFill>
                <a:latin typeface="Comic Sans"/>
                <a:ea typeface="Comic Sans"/>
                <a:cs typeface="Comic Sans"/>
                <a:sym typeface="Comic Sans"/>
              </a:rPr>
              <a:t>Create a presentation (PowerPoint, poster, or map) that tells a narrative similar to "Motus Mysteries." </a:t>
            </a:r>
          </a:p>
          <a:p>
            <a:pPr algn="just" marL="1597643" indent="-532548" lvl="2">
              <a:lnSpc>
                <a:spcPts val="5549"/>
              </a:lnSpc>
              <a:buFont typeface="Arial"/>
              <a:buChar char="⚬"/>
            </a:pPr>
            <a:r>
              <a:rPr lang="en-US" sz="3699">
                <a:solidFill>
                  <a:srgbClr val="FFFFFF"/>
                </a:solidFill>
                <a:latin typeface="Comic Sans"/>
                <a:ea typeface="Comic Sans"/>
                <a:cs typeface="Comic Sans"/>
                <a:sym typeface="Comic Sans"/>
              </a:rPr>
              <a:t>Essential Information to Include:</a:t>
            </a:r>
          </a:p>
          <a:p>
            <a:pPr algn="just" marL="1597643" indent="-532548" lvl="2">
              <a:lnSpc>
                <a:spcPts val="5549"/>
              </a:lnSpc>
              <a:spcBef>
                <a:spcPct val="0"/>
              </a:spcBef>
              <a:buFont typeface="Arial"/>
              <a:buChar char="⚬"/>
            </a:pPr>
            <a:r>
              <a:rPr lang="en-US" sz="3699">
                <a:solidFill>
                  <a:srgbClr val="FFFFFF"/>
                </a:solidFill>
                <a:latin typeface="Comic Sans"/>
                <a:ea typeface="Comic Sans"/>
                <a:cs typeface="Comic Sans"/>
                <a:sym typeface="Comic Sans"/>
              </a:rPr>
              <a:t>Picture of the species</a:t>
            </a:r>
          </a:p>
          <a:p>
            <a:pPr algn="just" marL="1597643" indent="-532548" lvl="2">
              <a:lnSpc>
                <a:spcPts val="5549"/>
              </a:lnSpc>
              <a:spcBef>
                <a:spcPct val="0"/>
              </a:spcBef>
              <a:buFont typeface="Arial"/>
              <a:buChar char="⚬"/>
            </a:pPr>
            <a:r>
              <a:rPr lang="en-US" sz="3699">
                <a:solidFill>
                  <a:srgbClr val="FFFFFF"/>
                </a:solidFill>
                <a:latin typeface="Comic Sans"/>
                <a:ea typeface="Comic Sans"/>
                <a:cs typeface="Comic Sans"/>
                <a:sym typeface="Comic Sans"/>
              </a:rPr>
              <a:t>Range of the species</a:t>
            </a:r>
          </a:p>
          <a:p>
            <a:pPr algn="just" marL="1597643" indent="-532548" lvl="2">
              <a:lnSpc>
                <a:spcPts val="5549"/>
              </a:lnSpc>
              <a:spcBef>
                <a:spcPct val="0"/>
              </a:spcBef>
              <a:buFont typeface="Arial"/>
              <a:buChar char="⚬"/>
            </a:pPr>
            <a:r>
              <a:rPr lang="en-US" sz="3699">
                <a:solidFill>
                  <a:srgbClr val="FFFFFF"/>
                </a:solidFill>
                <a:latin typeface="Comic Sans"/>
                <a:ea typeface="Comic Sans"/>
                <a:cs typeface="Comic Sans"/>
                <a:sym typeface="Comic Sans"/>
              </a:rPr>
              <a:t>Typical migration pattern (space and time)</a:t>
            </a:r>
          </a:p>
          <a:p>
            <a:pPr algn="just" marL="1597643" indent="-532548" lvl="2">
              <a:lnSpc>
                <a:spcPts val="5549"/>
              </a:lnSpc>
              <a:spcBef>
                <a:spcPct val="0"/>
              </a:spcBef>
              <a:buFont typeface="Arial"/>
              <a:buChar char="⚬"/>
            </a:pPr>
            <a:r>
              <a:rPr lang="en-US" sz="3699">
                <a:solidFill>
                  <a:srgbClr val="FFFFFF"/>
                </a:solidFill>
                <a:latin typeface="Comic Sans"/>
                <a:ea typeface="Comic Sans"/>
                <a:cs typeface="Comic Sans"/>
                <a:sym typeface="Comic Sans"/>
              </a:rPr>
              <a:t>Significant detections</a:t>
            </a:r>
          </a:p>
          <a:p>
            <a:pPr algn="just" marL="1597643" indent="-532548" lvl="2">
              <a:lnSpc>
                <a:spcPts val="5549"/>
              </a:lnSpc>
              <a:spcBef>
                <a:spcPct val="0"/>
              </a:spcBef>
              <a:buFont typeface="Arial"/>
              <a:buChar char="⚬"/>
            </a:pPr>
            <a:r>
              <a:rPr lang="en-US" sz="3699">
                <a:solidFill>
                  <a:srgbClr val="FFFFFF"/>
                </a:solidFill>
                <a:latin typeface="Comic Sans"/>
                <a:ea typeface="Comic Sans"/>
                <a:cs typeface="Comic Sans"/>
                <a:sym typeface="Comic Sans"/>
              </a:rPr>
              <a:t>Errors or unusual detections</a:t>
            </a:r>
          </a:p>
          <a:p>
            <a:pPr algn="just" marL="798821" indent="-399411" lvl="1">
              <a:lnSpc>
                <a:spcPts val="5549"/>
              </a:lnSpc>
              <a:spcBef>
                <a:spcPct val="0"/>
              </a:spcBef>
              <a:buFont typeface="Arial"/>
              <a:buChar char="•"/>
            </a:pPr>
            <a:r>
              <a:rPr lang="en-US" sz="3699">
                <a:solidFill>
                  <a:srgbClr val="FFFFFF"/>
                </a:solidFill>
                <a:latin typeface="Comic Sans"/>
                <a:ea typeface="Comic Sans"/>
                <a:cs typeface="Comic Sans"/>
                <a:sym typeface="Comic Sans"/>
              </a:rPr>
              <a:t>Present to the group!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DAGTYX7uS_I</dc:identifier>
  <dcterms:modified xsi:type="dcterms:W3CDTF">2011-08-01T06:04:30Z</dcterms:modified>
  <cp:revision>1</cp:revision>
  <dc:title>Migration and Motus Wildlife Tracking across the National Estuarine Research Reserve System</dc:title>
</cp:coreProperties>
</file>